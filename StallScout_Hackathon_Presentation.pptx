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854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57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433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9385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241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597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079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961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906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763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080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519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733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964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379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179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3630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785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085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130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146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856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545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4804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0745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61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992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1000">
              <a:schemeClr val="tx1">
                <a:lumMod val="50000"/>
                <a:lumOff val="50000"/>
              </a:schemeClr>
            </a:gs>
            <a:gs pos="47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963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hivamtyagi-jii.github.io/StallScout/" TargetMode="Externa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640080"/>
            <a:ext cx="1920240" cy="19202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9601200" y="1828800"/>
            <a:ext cx="1097280" cy="109728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9509760" y="2667000"/>
            <a:ext cx="640080" cy="640080"/>
          </a:xfrm>
          <a:prstGeom prst="ellipse">
            <a:avLst/>
          </a:prstGeom>
          <a:solidFill>
            <a:srgbClr val="FFB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21792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6D6B9"/>
                </a:solidFill>
                <a:latin typeface="Aptos"/>
              </a:defRPr>
            </a:pPr>
            <a:r>
              <a:rPr sz="1400" dirty="0">
                <a:solidFill>
                  <a:srgbClr val="FF0000"/>
                </a:solidFill>
              </a:rPr>
              <a:t>CAMPUS COMMERCE • REAL-TIME WEB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583680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48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StallScout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52542"/>
            <a:ext cx="617220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400" b="0">
                <a:solidFill>
                  <a:srgbClr val="B7C4D6"/>
                </a:solidFill>
                <a:latin typeface="Aptos"/>
              </a:defRPr>
            </a:pPr>
            <a:r>
              <a:rPr sz="2000" dirty="0">
                <a:solidFill>
                  <a:schemeClr val="accent1">
                    <a:lumMod val="50000"/>
                  </a:schemeClr>
                </a:solidFill>
              </a:rPr>
              <a:t>Find the fastest stall.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2000" dirty="0">
                <a:solidFill>
                  <a:schemeClr val="accent1">
                    <a:lumMod val="50000"/>
                  </a:schemeClr>
                </a:solidFill>
              </a:rPr>
              <a:t>Order smarter. Queue 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54880"/>
            <a:ext cx="61264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/>
              <a:t>A student + shopkeeper portal for live inventory, digital queues, and smarter campus decisions.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C7FAAB-11C1-1795-CCF0-F8E7B89F6BCA}"/>
              </a:ext>
            </a:extLst>
          </p:cNvPr>
          <p:cNvSpPr txBox="1"/>
          <p:nvPr/>
        </p:nvSpPr>
        <p:spPr>
          <a:xfrm>
            <a:off x="8873067" y="4191000"/>
            <a:ext cx="2674065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Team: Belivers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Team members: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1]Vedant Rajaram Bokare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2]Shivam Kumar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3]Tiwari Swapnil Manoj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4]Soham Kalsotra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7D3E9-82E9-9DA2-7848-49520724EC68}"/>
              </a:ext>
            </a:extLst>
          </p:cNvPr>
          <p:cNvSpPr txBox="1"/>
          <p:nvPr/>
        </p:nvSpPr>
        <p:spPr>
          <a:xfrm>
            <a:off x="670560" y="200810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https://shivamtyagi-jii.github.io/StallScout/</a:t>
            </a:r>
            <a:endParaRPr lang="en-IN" dirty="0">
              <a:solidFill>
                <a:srgbClr val="0070C0"/>
              </a:solidFill>
            </a:endParaRPr>
          </a:p>
          <a:p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0A77B1E-09A9-965C-DE8C-A23722947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815" y="152805"/>
            <a:ext cx="2184130" cy="2184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D6B9"/>
                </a:solidFill>
                <a:latin typeface="Aptos"/>
              </a:defRPr>
            </a:pPr>
            <a:r>
              <a:rPr sz="1200" dirty="0">
                <a:solidFill>
                  <a:schemeClr val="accent1">
                    <a:lumMod val="50000"/>
                  </a:schemeClr>
                </a:solidFill>
              </a:rPr>
              <a:t>01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The campus stall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749808" cy="50292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7C4D6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182880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1828800"/>
          </a:xfrm>
          <a:prstGeom prst="rect">
            <a:avLst/>
          </a:prstGeom>
          <a:solidFill>
            <a:srgbClr val="FFB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Wasted</a:t>
            </a:r>
            <a:r>
              <a:rPr dirty="0"/>
              <a:t> 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trips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94560"/>
            <a:ext cx="315468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Students may walk to a Bhawan only to discover an item is unavailable or the stall is closed.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182880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64008" cy="1828800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544568" y="176479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Uncertain</a:t>
            </a:r>
            <a:r>
              <a:rPr dirty="0"/>
              <a:t> 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queues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94560"/>
            <a:ext cx="315468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Crowds and wait times are hard to judge before leaving a room or study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20440" cy="182880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1828800"/>
          </a:xfrm>
          <a:prstGeom prst="rect">
            <a:avLst/>
          </a:prstGeom>
          <a:solidFill>
            <a:srgbClr val="FF6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247888" y="176479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Counter chaos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94560"/>
            <a:ext cx="315468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Shopkeepers handle shouted orders, changing stock, and rush-hour demand at once.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6D6B9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The opportunity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1069848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rPr dirty="0"/>
              <a:t>Give both sides one shared, browser-based view of availability and order status—so students can make better choices and stalls can organize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D6B9"/>
                </a:solidFill>
                <a:latin typeface="Aptos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</a:rPr>
              <a:t>02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StallScout: one system, two focused portals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749808" cy="50292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7C4D6"/>
                </a:solidFill>
                <a:latin typeface="Aptos"/>
              </a:defRPr>
            </a:pPr>
            <a:r>
              <a:rPr dirty="0"/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347472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4008" cy="3474720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4892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STUDENT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4892040" cy="166404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Browse stalls and items</a:t>
            </a:r>
          </a:p>
          <a:p>
            <a:pPr>
              <a:spcAft>
                <a:spcPts val="700"/>
              </a:spcAft>
              <a:defRPr sz="16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Check reported stock and stall status</a:t>
            </a:r>
          </a:p>
          <a:p>
            <a:pPr>
              <a:spcAft>
                <a:spcPts val="700"/>
              </a:spcAft>
              <a:defRPr sz="16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Compare estimated travel + queue time</a:t>
            </a:r>
          </a:p>
          <a:p>
            <a:pPr>
              <a:spcAft>
                <a:spcPts val="700"/>
              </a:spcAft>
              <a:defRPr sz="16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Place a pre-order</a:t>
            </a:r>
          </a:p>
          <a:p>
            <a:pPr>
              <a:spcAft>
                <a:spcPts val="700"/>
              </a:spcAft>
              <a:defRPr sz="16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Receive a ready-for-pickup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57800" cy="347472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64008" cy="3474720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19088" y="1764792"/>
            <a:ext cx="4892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SHOPKEEPER</a:t>
            </a:r>
            <a:r>
              <a:rPr dirty="0"/>
              <a:t> 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94560"/>
            <a:ext cx="4892040" cy="166404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View incoming orders in a queue</a:t>
            </a:r>
          </a:p>
          <a:p>
            <a:pPr>
              <a:spcAft>
                <a:spcPts val="700"/>
              </a:spcAft>
              <a:defRPr sz="16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Update item availability</a:t>
            </a:r>
          </a:p>
          <a:p>
            <a:pPr>
              <a:spcAft>
                <a:spcPts val="700"/>
              </a:spcAft>
              <a:defRPr sz="16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Set crowd status</a:t>
            </a:r>
          </a:p>
          <a:p>
            <a:pPr>
              <a:spcAft>
                <a:spcPts val="700"/>
              </a:spcAft>
              <a:defRPr sz="16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Mark orders ready, then picked up</a:t>
            </a:r>
          </a:p>
          <a:p>
            <a:pPr>
              <a:spcAft>
                <a:spcPts val="700"/>
              </a:spcAft>
              <a:defRPr sz="16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Review completed orders in a separate 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4088" y="343817"/>
            <a:ext cx="107899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D6B9"/>
                </a:solidFill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03 •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How the experience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749808" cy="50292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7C4D6"/>
                </a:solidFill>
                <a:latin typeface="Aptos"/>
              </a:defRPr>
            </a:pPr>
            <a:r>
              <a:rPr dirty="0"/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1161288" y="1783080"/>
            <a:ext cx="640080" cy="64008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161288" y="1938528"/>
            <a:ext cx="640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D182B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697480"/>
            <a:ext cx="1783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/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196596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sz="1400" dirty="0">
                <a:solidFill>
                  <a:schemeClr val="accent1">
                    <a:lumMod val="75000"/>
                  </a:schemeClr>
                </a:solidFill>
              </a:rPr>
              <a:t>Student searches for an item or stall.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20240"/>
            <a:ext cx="685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6D6B9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493008" y="1783080"/>
            <a:ext cx="640080" cy="64008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3493008" y="1938528"/>
            <a:ext cx="640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D182B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697480"/>
            <a:ext cx="1783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/>
              <a:t>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3154680"/>
            <a:ext cx="1965960" cy="7509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lang="en-US" sz="1400" dirty="0">
                <a:solidFill>
                  <a:srgbClr val="FFFF00"/>
                </a:solidFill>
              </a:rPr>
              <a:t>Website</a:t>
            </a:r>
            <a:r>
              <a:rPr sz="1400" dirty="0">
                <a:solidFill>
                  <a:srgbClr val="FFFF00"/>
                </a:solidFill>
              </a:rPr>
              <a:t> ranks </a:t>
            </a:r>
            <a:r>
              <a:rPr sz="1600" dirty="0">
                <a:solidFill>
                  <a:srgbClr val="FFFF00"/>
                </a:solidFill>
              </a:rPr>
              <a:t>eligible</a:t>
            </a:r>
            <a:r>
              <a:rPr sz="1400" dirty="0">
                <a:solidFill>
                  <a:srgbClr val="FFFF00"/>
                </a:solidFill>
              </a:rPr>
              <a:t> stalls using estimated travel and queue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920240"/>
            <a:ext cx="685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6D6B9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824728" y="1783080"/>
            <a:ext cx="640080" cy="6400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5824728" y="1938528"/>
            <a:ext cx="640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D182B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697480"/>
            <a:ext cx="1783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/>
              <a:t>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154680"/>
            <a:ext cx="196596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sz="1400" dirty="0">
                <a:solidFill>
                  <a:srgbClr val="FFC000"/>
                </a:solidFill>
              </a:rPr>
              <a:t>Student submits a pre-order from the portal.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920240"/>
            <a:ext cx="685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6D6B9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156447" y="1783080"/>
            <a:ext cx="640080" cy="6400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8156447" y="1938528"/>
            <a:ext cx="640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D182B"/>
                </a:solidFill>
                <a:latin typeface="Aptos"/>
              </a:defRPr>
            </a:pPr>
            <a:r>
              <a:rPr dirty="0"/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2697480"/>
            <a:ext cx="1783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/>
              <a:t>Prepare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3154680"/>
            <a:ext cx="1965960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sz="1400" dirty="0">
                <a:solidFill>
                  <a:srgbClr val="FF0000"/>
                </a:solidFill>
              </a:rPr>
              <a:t>Shopkeeper sees the incoming order and updates its status.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1920240"/>
            <a:ext cx="685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6D6B9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488167" y="1783080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10488167" y="1938528"/>
            <a:ext cx="640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D182B"/>
                </a:solidFill>
                <a:latin typeface="Aptos"/>
              </a:defRPr>
            </a:pPr>
            <a:r>
              <a:rPr dirty="0"/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2697480"/>
            <a:ext cx="1783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/>
              <a:t>Collect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3154680"/>
            <a:ext cx="1965960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sz="1400" dirty="0">
                <a:solidFill>
                  <a:srgbClr val="C00000"/>
                </a:solidFill>
              </a:rPr>
              <a:t>Student receives a ready alert and picks up the order</a:t>
            </a:r>
            <a:r>
              <a:rPr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983480"/>
            <a:ext cx="10332720" cy="77724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914400" y="4983480"/>
            <a:ext cx="64008" cy="777240"/>
          </a:xfrm>
          <a:prstGeom prst="rect">
            <a:avLst/>
          </a:prstGeom>
          <a:solidFill>
            <a:srgbClr val="FFB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1115568" y="5148072"/>
            <a:ext cx="10162032" cy="273921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Important boundary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112" y="5460122"/>
            <a:ext cx="99669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rgbClr val="00B0F0"/>
                </a:solidFill>
              </a:rPr>
              <a:t>Alerts and order states depend on connected clients and broker availability; production use needs robust persistence and access controls.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D6B9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04 • </a:t>
            </a: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STUDENT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VALUE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For students: decide before you walk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749808" cy="50292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7C4D6"/>
                </a:solidFill>
                <a:latin typeface="Aptos"/>
              </a:defRPr>
            </a:pPr>
            <a:r>
              <a:rPr dirty="0"/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182880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1828800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Live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94560"/>
            <a:ext cx="315468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See the latest stock status reported by the stall.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182880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64008" cy="1828800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544568" y="176479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Smart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94560"/>
            <a:ext cx="315468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 estimated travel time plus queue wait—not distance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20440" cy="182880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1828800"/>
          </a:xfrm>
          <a:prstGeom prst="rect">
            <a:avLst/>
          </a:prstGeom>
          <a:solidFill>
            <a:srgbClr val="FFB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247888" y="176479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Pre-order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94560"/>
            <a:ext cx="315468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Order remotely and listen for a ready-for-pickup notification.</a:t>
            </a: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D1135DFC-BF7D-98F4-1F23-0C966EBD0F71}"/>
              </a:ext>
            </a:extLst>
          </p:cNvPr>
          <p:cNvSpPr/>
          <p:nvPr/>
        </p:nvSpPr>
        <p:spPr>
          <a:xfrm>
            <a:off x="2035664" y="4343400"/>
            <a:ext cx="3520440" cy="182880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ounded Rectangle 13">
            <a:extLst>
              <a:ext uri="{FF2B5EF4-FFF2-40B4-BE49-F238E27FC236}">
                <a16:creationId xmlns:a16="http://schemas.microsoft.com/office/drawing/2014/main" id="{3178A0D4-B3A7-A5A5-6F66-A29B25CE11AB}"/>
              </a:ext>
            </a:extLst>
          </p:cNvPr>
          <p:cNvSpPr/>
          <p:nvPr/>
        </p:nvSpPr>
        <p:spPr>
          <a:xfrm>
            <a:off x="6787546" y="4370832"/>
            <a:ext cx="3520440" cy="182880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E1849D-9BFD-3F20-D2A6-CD689279F53A}"/>
              </a:ext>
            </a:extLst>
          </p:cNvPr>
          <p:cNvSpPr txBox="1"/>
          <p:nvPr/>
        </p:nvSpPr>
        <p:spPr>
          <a:xfrm>
            <a:off x="2246949" y="4600431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Digital Queue &amp; Crowd Control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1B0847-E683-B5AE-134E-03736EE52E39}"/>
              </a:ext>
            </a:extLst>
          </p:cNvPr>
          <p:cNvSpPr txBox="1"/>
          <p:nvPr/>
        </p:nvSpPr>
        <p:spPr>
          <a:xfrm>
            <a:off x="7153306" y="4600431"/>
            <a:ext cx="315468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Zero-Friction &amp; Zero App Downloads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8F3780-574C-0572-1720-A92C335BBFD4}"/>
              </a:ext>
            </a:extLst>
          </p:cNvPr>
          <p:cNvSpPr txBox="1"/>
          <p:nvPr/>
        </p:nvSpPr>
        <p:spPr>
          <a:xfrm>
            <a:off x="2218544" y="5072383"/>
            <a:ext cx="315468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Shopkeepers manage incoming orders on an organized dashboard and toggle crowd levels to balance campus foot traffic.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0AA53D-DABB-D993-D5C6-98DD222A0ED9}"/>
              </a:ext>
            </a:extLst>
          </p:cNvPr>
          <p:cNvSpPr txBox="1"/>
          <p:nvPr/>
        </p:nvSpPr>
        <p:spPr>
          <a:xfrm>
            <a:off x="7153306" y="5209210"/>
            <a:ext cx="315468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Runs entirely in any web browser with instant real-time cloud syncing.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B359C0-272E-E93B-84C0-5E6F211A28FE}"/>
              </a:ext>
            </a:extLst>
          </p:cNvPr>
          <p:cNvSpPr/>
          <p:nvPr/>
        </p:nvSpPr>
        <p:spPr>
          <a:xfrm>
            <a:off x="6755542" y="4389975"/>
            <a:ext cx="64008" cy="1828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F71015-B780-472C-51BC-45C5A18B2756}"/>
              </a:ext>
            </a:extLst>
          </p:cNvPr>
          <p:cNvSpPr/>
          <p:nvPr/>
        </p:nvSpPr>
        <p:spPr>
          <a:xfrm>
            <a:off x="1987658" y="4360333"/>
            <a:ext cx="64008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D6B9"/>
                </a:solidFill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05 • SHOPKEEPER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For shopkeepers: a calmer, clearer queue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749808" cy="50292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7C4D6"/>
                </a:solidFill>
                <a:latin typeface="Aptos"/>
              </a:defRPr>
            </a:pPr>
            <a:r>
              <a:rPr dirty="0"/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1874519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1874519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Digital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94560"/>
            <a:ext cx="315468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Incoming orders appear in a focused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1874519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64008" cy="1874519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544568" y="176479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One-click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94560"/>
            <a:ext cx="315468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Change stock or crowd status to inform students.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20440" cy="1874519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1874519"/>
          </a:xfrm>
          <a:prstGeom prst="rect">
            <a:avLst/>
          </a:prstGeom>
          <a:solidFill>
            <a:srgbClr val="FFB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247888" y="176479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Order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94560"/>
            <a:ext cx="315468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Move orders from active queue to ready, then picked 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51560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6D6B9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Queue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103327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dirty="0"/>
              <a:t>Active orders remain visible while they need action. Picked-up orders can move into a collapsible completed-orders area, keeping the main screen readable during rushes.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82D3814-D1D2-B232-C0AF-8CE941288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5254752"/>
            <a:ext cx="672465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D6B9"/>
                </a:solidFill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06 •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Architecture: lightweight browser clients + MQTT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749808" cy="50292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7C4D6"/>
                </a:solidFill>
                <a:latin typeface="Aptos"/>
              </a:defRPr>
            </a:pPr>
            <a:r>
              <a:rPr dirty="0"/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743200" cy="141732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64008" cy="1417320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95528" y="1856232"/>
            <a:ext cx="237744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Student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86000"/>
            <a:ext cx="237744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HTML • CSS • Vanilla 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91640"/>
            <a:ext cx="2743200" cy="141732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709160" y="1691640"/>
            <a:ext cx="64008" cy="1417320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910328" y="1856232"/>
            <a:ext cx="237744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MQTT broker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2286000"/>
            <a:ext cx="2377440" cy="563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EMQX public broker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WebSocket transport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91640"/>
            <a:ext cx="2743200" cy="141732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823960" y="1691640"/>
            <a:ext cx="64008" cy="1417320"/>
          </a:xfrm>
          <a:prstGeom prst="rect">
            <a:avLst/>
          </a:prstGeom>
          <a:solidFill>
            <a:srgbClr val="FFB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9025128" y="1856232"/>
            <a:ext cx="237744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Shopkeeper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2286000"/>
            <a:ext cx="237744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HTML • CSS • Vanilla 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057400"/>
            <a:ext cx="10515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26D6B9"/>
                </a:solidFill>
                <a:latin typeface="Aptos"/>
              </a:defRPr>
            </a:pPr>
            <a:r>
              <a:rPr dirty="0">
                <a:solidFill>
                  <a:srgbClr val="FFFF00"/>
                </a:solidFill>
              </a:rPr>
              <a:t>Publish 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057400"/>
            <a:ext cx="11430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26D6B9"/>
                </a:solidFill>
                <a:latin typeface="Aptos"/>
              </a:defRPr>
            </a:pPr>
            <a:r>
              <a:rPr dirty="0">
                <a:solidFill>
                  <a:srgbClr val="FFFF00"/>
                </a:solidFill>
              </a:rPr>
              <a:t>↔ Subscribe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794760"/>
            <a:ext cx="4663440" cy="132588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914400" y="3794760"/>
            <a:ext cx="64008" cy="1325880"/>
          </a:xfrm>
          <a:prstGeom prst="rect">
            <a:avLst/>
          </a:prstGeom>
          <a:solidFill>
            <a:srgbClr val="FFB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115568" y="3959352"/>
            <a:ext cx="429767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Browser-local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389120"/>
            <a:ext cx="4297679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localStorage can persist state on that browser/device and support same-browser reloads.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794760"/>
            <a:ext cx="4663440" cy="132588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6583680" y="3794760"/>
            <a:ext cx="64008" cy="1325880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784848" y="3959352"/>
            <a:ext cx="429767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Cross-device messages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4287516"/>
            <a:ext cx="4297679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MQTT topics carry published updates to subscribed clients; this is messaging, not a durable shared database by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D6B9"/>
                </a:solidFill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07 • TOOLS AND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749808" cy="50292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7C4D6"/>
                </a:solidFill>
                <a:latin typeface="Aptos"/>
              </a:defRPr>
            </a:pPr>
            <a:r>
              <a:rPr dirty="0"/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1874519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4008" cy="1874519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48840"/>
            <a:ext cx="3154680" cy="8535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HTML5 semantic structure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CSS3: Grid, Flexbox, variables, animations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Vanilla JavaScript (ES6+)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1874519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64008" cy="1874519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544568" y="171907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Real-time messaging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48840"/>
            <a:ext cx="3154680" cy="8535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mqtt.js client library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MQTT over WebSockets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EMQX public broker endpoint in prototype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20440" cy="1874519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64008" cy="1874519"/>
          </a:xfrm>
          <a:prstGeom prst="rect">
            <a:avLst/>
          </a:prstGeom>
          <a:solidFill>
            <a:srgbClr val="FFB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247888" y="171907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Browser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48840"/>
            <a:ext cx="3154680" cy="8535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 Audio API for synthesized alerts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Geolocation API for GPS coordinates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localStorage for local persistence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5257800" cy="150876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64008" cy="1508760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41247" y="3959352"/>
            <a:ext cx="48920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Catalog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389120"/>
            <a:ext cx="489204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static JavaScript/JSON-style catalog is described in the implementation notes; spreadsheet source names were supplied as fruitshop.xlsx, statioanary.xlsx, and price list.xlsx.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94760"/>
            <a:ext cx="5257800" cy="150876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6217920" y="3794760"/>
            <a:ext cx="64008" cy="1508760"/>
          </a:xfrm>
          <a:prstGeom prst="rect">
            <a:avLst/>
          </a:prstGeom>
          <a:solidFill>
            <a:srgbClr val="FF6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419088" y="3959352"/>
            <a:ext cx="48920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89120"/>
            <a:ext cx="489204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Hosting platform was not specified in the supplied details. Add the actual platform and build/deploy process before presenting this as complete.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D6B9"/>
                </a:solidFill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08 • ROUTING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Smart Route Finder: estimate total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749808" cy="50292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7C4D6"/>
                </a:solidFill>
                <a:latin typeface="Aptos"/>
              </a:defRPr>
            </a:pPr>
            <a:r>
              <a:rPr dirty="0"/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6D6B9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Total estimated time = travel time + queue wait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3429000" cy="1874519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85800" y="2423160"/>
            <a:ext cx="64008" cy="1874519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86968" y="2587752"/>
            <a:ext cx="30632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1 •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017520"/>
            <a:ext cx="306324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Haversine formula estimates straight-line distance between GPS coordinates and a stall coordinate.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23160"/>
            <a:ext cx="3429000" cy="1874519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4389120" y="2423160"/>
            <a:ext cx="64008" cy="1874519"/>
          </a:xfrm>
          <a:prstGeom prst="rect">
            <a:avLst/>
          </a:prstGeom>
          <a:solidFill>
            <a:srgbClr val="FFB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590288" y="2587752"/>
            <a:ext cx="30632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2 • Walking estimate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017520"/>
            <a:ext cx="306324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Prototype assumptions: multiply straight-line distance by 1.25, then divide by 80 m/min.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423160"/>
            <a:ext cx="3429000" cy="1874519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8092440" y="2423160"/>
            <a:ext cx="64008" cy="1874519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293608" y="2587752"/>
            <a:ext cx="30632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3 • Rank stalls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7324" y="3061462"/>
            <a:ext cx="306324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the stall's current estimated queue wait and rank open, eligible stalls by total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1051560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7C4D6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Accuracy caveat: the 1.25 pathway factor and 80 m/min walking speed are heuristics, not route measurements. Buildings, paths, crossings, GPS error, accessibility, and actual queues can change the result.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4349F5F-EC00-8BF4-E872-D79DF859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532119"/>
            <a:ext cx="10348857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8507"/>
            <a:ext cx="107899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D6B9"/>
                </a:solidFill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09 • INTERACTION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Real-time updates and audio alerts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749808" cy="50292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7C4D6"/>
                </a:solidFill>
                <a:latin typeface="Aptos"/>
              </a:defRPr>
            </a:pPr>
            <a:r>
              <a:rPr dirty="0"/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57800" cy="1874519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1874519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48920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MQTT message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40280"/>
            <a:ext cx="489204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client publishes an update to a topic; other subscribed clients can receive it while connected. The broker and network determine delivery timing.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57800" cy="1874519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1874519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8920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Audio unlock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40280"/>
            <a:ext cx="489204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Browsers often restrict autoplay. A user gesture such as clicking Login or an action button can initialize/resume AudioContext, subject to browser behavior.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00C4EC-AC1C-9F59-CDF1-AAC5EC93E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23" y="3685031"/>
            <a:ext cx="8407673" cy="28952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D6B9"/>
                </a:solidFill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10 • HACKATHON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Challenges we addressed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749808" cy="50292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7C4D6"/>
                </a:solidFill>
                <a:latin typeface="Aptos"/>
              </a:defRPr>
            </a:pPr>
            <a:r>
              <a:rPr dirty="0"/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49240" cy="155448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1554480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1673351"/>
            <a:ext cx="498347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Real-time sync without a custom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03120"/>
            <a:ext cx="4983479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MQTT over WebSockets to exchange updates between browser clients.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49240" cy="155448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64008" cy="1554480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19088" y="1673351"/>
            <a:ext cx="498347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“Walking through walls” estimates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03120"/>
            <a:ext cx="4983479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Added a pathway multiplier to improve on straight-line distance; still an approximation.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5349240" cy="155448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64008" cy="1554480"/>
          </a:xfrm>
          <a:prstGeom prst="rect">
            <a:avLst/>
          </a:prstGeom>
          <a:solidFill>
            <a:srgbClr val="FFB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41247" y="3593592"/>
            <a:ext cx="498347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Browser audio restrictions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023360"/>
            <a:ext cx="4983479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Synthesized alerts with Web Audio API and initialized audio after user interaction.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349240" cy="155448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64008" cy="1554480"/>
          </a:xfrm>
          <a:prstGeom prst="rect">
            <a:avLst/>
          </a:prstGeom>
          <a:solidFill>
            <a:srgbClr val="FF6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419088" y="3593592"/>
            <a:ext cx="498347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Endless active order 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23360"/>
            <a:ext cx="4983479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Separated picked-up orders from the active queue in a completed-orders drawer.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D6B9"/>
                </a:solidFill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11 • RELIABILITY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What we would harden before real campus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749808" cy="50292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7C4D6"/>
                </a:solidFill>
                <a:latin typeface="Aptos"/>
              </a:defRPr>
            </a:pPr>
            <a:r>
              <a:rPr dirty="0"/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196596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4008" cy="1965960"/>
          </a:xfrm>
          <a:prstGeom prst="rect">
            <a:avLst/>
          </a:prstGeom>
          <a:solidFill>
            <a:srgbClr val="FF6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48840"/>
            <a:ext cx="3154680" cy="8740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authenticated accounts and server/broker-enforced permissions. Frontend-only passcodes are not strong security.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196596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64008" cy="1965960"/>
          </a:xfrm>
          <a:prstGeom prst="rect">
            <a:avLst/>
          </a:prstGeom>
          <a:solidFill>
            <a:srgbClr val="FFB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544568" y="171907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Shared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48840"/>
            <a:ext cx="315468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a durable database and trusted service layer for orders, stock, and history; localStorage is device-local.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20440" cy="196596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64008" cy="1965960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247888" y="1719072"/>
            <a:ext cx="3154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Privacy &amp; 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48840"/>
            <a:ext cx="315468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Request location only when needed, explain its use, and provide manual location/stall selection as a fallback.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257800" cy="141732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64008" cy="1417320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41247" y="4050791"/>
            <a:ext cx="48920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Message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480560"/>
            <a:ext cx="489204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Validate payloads, scope topics by stall, avoid exposing sensitive order data, and handle duplicate/stale messages.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86200"/>
            <a:ext cx="5257800" cy="141732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6217920" y="3886200"/>
            <a:ext cx="64008" cy="1417320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419088" y="4050791"/>
            <a:ext cx="48920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Operational resilience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480560"/>
            <a:ext cx="489204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Show connection status, retry safely, reconcile state after reconnect, and test concurrent edits and order transitions.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D6B9"/>
                </a:solidFill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12 • EVALUATION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How we would measure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749808" cy="50292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7C4D6"/>
                </a:solidFill>
                <a:latin typeface="Aptos"/>
              </a:defRPr>
            </a:pPr>
            <a:r>
              <a:rPr dirty="0"/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182880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1828800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306324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Student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40280"/>
            <a:ext cx="3063240" cy="8535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Fewer wasted trips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Lower time from search to pickup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Better accuracy of stock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4297680"/>
            <a:ext cx="3429000" cy="182880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836676" y="4258733"/>
            <a:ext cx="64008" cy="1828800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207008" y="4443645"/>
            <a:ext cx="306324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Shopkeeper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863702"/>
            <a:ext cx="3063240" cy="8535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Shorter counter queues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Fewer missed orders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Easier handling of peak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9984" y="134061"/>
            <a:ext cx="3429000" cy="182880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6665976" y="134061"/>
            <a:ext cx="64008" cy="1828800"/>
          </a:xfrm>
          <a:prstGeom prst="rect">
            <a:avLst/>
          </a:prstGeom>
          <a:solidFill>
            <a:srgbClr val="FFB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269141" y="353669"/>
            <a:ext cx="306324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System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5332" y="956945"/>
            <a:ext cx="3063240" cy="8535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Update delivery latency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Reconnect recovery rate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Order state consistency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EDE9F42-F7E2-3864-BCC6-D3FF5FD72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293087"/>
            <a:ext cx="7587827" cy="42112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D6B9"/>
                </a:solidFill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13 •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749808" cy="50292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7C4D6"/>
                </a:solidFill>
                <a:latin typeface="Aptos"/>
              </a:defRPr>
            </a:pPr>
            <a:r>
              <a:rPr dirty="0"/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933" y="2799689"/>
            <a:ext cx="3429000" cy="214884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348996" y="2799689"/>
            <a:ext cx="64008" cy="2148840"/>
          </a:xfrm>
          <a:prstGeom prst="rect">
            <a:avLst/>
          </a:prstGeom>
          <a:solidFill>
            <a:srgbClr val="26D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57919" y="2933068"/>
            <a:ext cx="306324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Phase 1 • Stabilize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569" y="3620233"/>
            <a:ext cx="3063240" cy="8535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Test two-device sync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Validate order lifecycle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Add reconnect and error states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4820" y="45720"/>
            <a:ext cx="3429000" cy="214884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229270" y="65865"/>
            <a:ext cx="64008" cy="2148840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549140" y="491634"/>
            <a:ext cx="306324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Phase 2 • Production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140" y="835088"/>
            <a:ext cx="3063240" cy="8535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Authentication and permissions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Durable database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Broker isolation and monitoring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9682" y="59092"/>
            <a:ext cx="3429000" cy="214884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7896691" y="39158"/>
            <a:ext cx="64008" cy="2148840"/>
          </a:xfrm>
          <a:prstGeom prst="rect">
            <a:avLst/>
          </a:prstGeom>
          <a:solidFill>
            <a:srgbClr val="FFB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156448" y="386359"/>
            <a:ext cx="306324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Phase 3 • Smarter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9684" y="686795"/>
            <a:ext cx="3063240" cy="8535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Real campus paths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Better wait-time estimates</a:t>
            </a:r>
          </a:p>
          <a:p>
            <a:pPr>
              <a:spcAft>
                <a:spcPts val="700"/>
              </a:spcAft>
              <a:defRPr sz="13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Accessibility-aware route options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0FE090A-8931-3663-CC0B-B427712C7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159" y="2581234"/>
            <a:ext cx="8104632" cy="37851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50292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6D6B9"/>
                </a:solidFill>
                <a:latin typeface="Aptos"/>
              </a:defRPr>
            </a:pPr>
            <a:r>
              <a:rPr dirty="0">
                <a:solidFill>
                  <a:srgbClr val="FF0000"/>
                </a:solidFill>
              </a:rPr>
              <a:t>STALLSCOUT • 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854613" cy="1148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rPr dirty="0"/>
              <a:t>Less uncertainty.</a:t>
            </a:r>
          </a:p>
          <a:p>
            <a:pPr>
              <a:spcAft>
                <a:spcPts val="7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rPr dirty="0"/>
              <a:t>More organized campus commerce.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6504093" cy="124341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B7C4D6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StallScout connects student decisions with shopkeeper operations through a lightweight web experience—combining reported availability, digital order flow, and estimated travel-plus-queue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143000"/>
            <a:ext cx="2834640" cy="4480560"/>
          </a:xfrm>
          <a:prstGeom prst="roundRect">
            <a:avLst/>
          </a:prstGeom>
          <a:solidFill>
            <a:schemeClr val="bg1"/>
          </a:solidFill>
          <a:ln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823960" y="1600200"/>
            <a:ext cx="21945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6D6B9"/>
                </a:solidFill>
                <a:latin typeface="Aptos"/>
              </a:defRPr>
            </a:pPr>
            <a:r>
              <a:rPr dirty="0"/>
              <a:t>FIND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240280"/>
            <a:ext cx="21945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5BBEFF"/>
                </a:solidFill>
                <a:latin typeface="Aptos"/>
              </a:defRPr>
            </a:pPr>
            <a:r>
              <a:rPr dirty="0"/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880360"/>
            <a:ext cx="21945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B159"/>
                </a:solidFill>
                <a:latin typeface="Aptos"/>
              </a:defRPr>
            </a:pPr>
            <a:r>
              <a:rPr dirty="0"/>
              <a:t>PICK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776388"/>
            <a:ext cx="2194560" cy="9459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One browser.</a:t>
            </a:r>
          </a:p>
          <a:p>
            <a:pPr algn="ctr"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Two portals.</a:t>
            </a:r>
          </a:p>
          <a:p>
            <a:pPr algn="ctr"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A clearer queue</a:t>
            </a:r>
            <a:r>
              <a:rPr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CB894F-9B8D-9AD4-E4AA-797A8836730F}"/>
              </a:ext>
            </a:extLst>
          </p:cNvPr>
          <p:cNvSpPr txBox="1"/>
          <p:nvPr/>
        </p:nvSpPr>
        <p:spPr>
          <a:xfrm>
            <a:off x="4326467" y="6239933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Thank you</a:t>
            </a:r>
            <a:endParaRPr lang="en-IN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198</TotalTime>
  <Words>1253</Words>
  <Application>Microsoft Office PowerPoint</Application>
  <PresentationFormat>Widescreen</PresentationFormat>
  <Paragraphs>203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 Light</vt:lpstr>
      <vt:lpstr>Arial</vt:lpstr>
      <vt:lpstr>Walbaum Display</vt:lpstr>
      <vt:lpstr>Shoji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StallScout — Professional Hackathon Presentation</dc:title>
  <dc:subject>Campus stall discovery, live inventory, digital queues, and smart routing</dc:subject>
  <dc:creator>StallScout Project Team</dc:creator>
  <cp:keywords>StallScout, hackathon, MQTT, campus canteen, real-time web app</cp:keywords>
  <dc:description>generated using python-pptx</dc:description>
  <cp:lastModifiedBy>VEDANT BOKARE</cp:lastModifiedBy>
  <cp:revision>10</cp:revision>
  <dcterms:created xsi:type="dcterms:W3CDTF">2013-01-27T09:14:16Z</dcterms:created>
  <dcterms:modified xsi:type="dcterms:W3CDTF">2026-10-24T21:49:46Z</dcterms:modified>
  <cp:category/>
</cp:coreProperties>
</file>