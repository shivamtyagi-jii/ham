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0410"/>
            <a:ext cx="10813067" cy="7838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998185"/>
            <a:ext cx="10813067" cy="54150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2974" y="1606318"/>
            <a:ext cx="11268845" cy="479145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FC4771-5A22-2E68-AB04-0949D0A15B66}"/>
              </a:ext>
            </a:extLst>
          </p:cNvPr>
          <p:cNvCxnSpPr>
            <a:cxnSpLocks/>
          </p:cNvCxnSpPr>
          <p:nvPr/>
        </p:nvCxnSpPr>
        <p:spPr>
          <a:xfrm flipH="1">
            <a:off x="0" y="159971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A95C5A-6D75-9E1D-C459-7F2022E84F55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0ED5AC1-9F96-A868-7F45-523BF1A45E7C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0E1F764-5B01-7711-9CF1-7EA13A629701}"/>
              </a:ext>
            </a:extLst>
          </p:cNvPr>
          <p:cNvCxnSpPr>
            <a:cxnSpLocks/>
          </p:cNvCxnSpPr>
          <p:nvPr/>
        </p:nvCxnSpPr>
        <p:spPr>
          <a:xfrm flipH="1">
            <a:off x="0" y="639617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8543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60221"/>
            <a:ext cx="10515600" cy="13304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04291"/>
            <a:ext cx="10515600" cy="41726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76D044F-5574-D6D7-2A47-5069E411C22F}"/>
              </a:ext>
            </a:extLst>
          </p:cNvPr>
          <p:cNvCxnSpPr>
            <a:cxnSpLocks/>
          </p:cNvCxnSpPr>
          <p:nvPr/>
        </p:nvCxnSpPr>
        <p:spPr>
          <a:xfrm flipH="1">
            <a:off x="0" y="1825625"/>
            <a:ext cx="12210293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0570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2445" y="1480212"/>
            <a:ext cx="3849131" cy="2871351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46" y="5410440"/>
            <a:ext cx="3849128" cy="106820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69E8996-63F9-282F-EB89-823A9E405F9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04414" cy="6859634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29501" y="6445997"/>
            <a:ext cx="295546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26650" y="6445997"/>
            <a:ext cx="135305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BE003B-9AA9-5AAB-16A3-CC8CD5997AAA}"/>
              </a:ext>
            </a:extLst>
          </p:cNvPr>
          <p:cNvCxnSpPr>
            <a:cxnSpLocks/>
          </p:cNvCxnSpPr>
          <p:nvPr/>
        </p:nvCxnSpPr>
        <p:spPr>
          <a:xfrm flipH="1">
            <a:off x="7206802" y="5031087"/>
            <a:ext cx="498519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CBC2A1-BC50-27CD-C764-435FA7A59ABD}"/>
              </a:ext>
            </a:extLst>
          </p:cNvPr>
          <p:cNvCxnSpPr>
            <a:cxnSpLocks/>
          </p:cNvCxnSpPr>
          <p:nvPr/>
        </p:nvCxnSpPr>
        <p:spPr>
          <a:xfrm>
            <a:off x="720680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54331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09CE9-F18C-5020-CF43-5960AFE65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6222" y="1246912"/>
            <a:ext cx="8919556" cy="3050766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>
                    <a:alpha val="9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6B3AA5-F8D6-AB69-241F-6F8F1DD41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51378" y="5345199"/>
            <a:ext cx="7289245" cy="11840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78127-77D8-DF99-4AE0-F322800B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D04168-7304-004B-C2F6-42E38FDC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8464-EE0F-215A-2FA8-F434687B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4A186-7A3C-2849-F4A7-5B5565EB29E6}"/>
              </a:ext>
            </a:extLst>
          </p:cNvPr>
          <p:cNvCxnSpPr>
            <a:cxnSpLocks/>
          </p:cNvCxnSpPr>
          <p:nvPr/>
        </p:nvCxnSpPr>
        <p:spPr>
          <a:xfrm flipH="1">
            <a:off x="0" y="5016433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C7E87E-EC44-47F9-6172-5EEA03DE5D87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9385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2D6AD5-6168-B411-89A9-90C82303B2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EC6DA0-2CB8-AFC5-DB06-AB9235983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38087"/>
            <a:ext cx="8932653" cy="331254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cap="all" baseline="0">
                <a:solidFill>
                  <a:schemeClr val="tx2">
                    <a:alpha val="5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16A9F-28B9-2207-66D3-D952EB7EC8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-789870"/>
            <a:ext cx="10515600" cy="638352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3F77F-C41D-1011-B9F4-A5DE814F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751081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CD507-925C-84B3-8F49-9F3B9120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13B4AE-32E8-CAFF-4A3C-6CBE4FFF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FA0DE8-9E4B-D747-CB64-14B8DEDC02EA}"/>
              </a:ext>
            </a:extLst>
          </p:cNvPr>
          <p:cNvCxnSpPr>
            <a:cxnSpLocks/>
          </p:cNvCxnSpPr>
          <p:nvPr/>
        </p:nvCxnSpPr>
        <p:spPr>
          <a:xfrm flipH="1">
            <a:off x="0" y="1367580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EB75EB-F27E-271A-C843-4096E1F19057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241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2D18C4-A1A8-6CA4-B4A2-0E9791DC7F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22507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79085" y="2249592"/>
            <a:ext cx="6100623" cy="3787062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5974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D0A563-F018-FFF1-B911-D69E42CEEA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63362"/>
            <a:ext cx="11130279" cy="1162632"/>
          </a:xfrm>
        </p:spPr>
        <p:txBody>
          <a:bodyPr anchor="ctr">
            <a:normAutofit/>
          </a:bodyPr>
          <a:lstStyle>
            <a:lvl1pPr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DA2B1BE-7DDF-C8B4-6A46-21B5A0257D0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8364" y="1830708"/>
            <a:ext cx="5321063" cy="456392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6552" y="2191025"/>
            <a:ext cx="5733156" cy="3894807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>
                <a:solidFill>
                  <a:schemeClr val="tx2"/>
                </a:solidFill>
              </a:defRPr>
            </a:lvl1pPr>
            <a:lvl2pPr marL="571500" indent="-342900">
              <a:buFont typeface="+mj-lt"/>
              <a:buAutoNum type="arabicPeriod"/>
              <a:defRPr lang="en-US" sz="1800" dirty="0">
                <a:solidFill>
                  <a:schemeClr val="tx2"/>
                </a:solidFill>
              </a:defRPr>
            </a:lvl2pPr>
            <a:lvl3pPr marL="800100" indent="-342900">
              <a:buFont typeface="+mj-lt"/>
              <a:buAutoNum type="arabicPeriod"/>
              <a:defRPr lang="en-US" sz="1600" dirty="0">
                <a:solidFill>
                  <a:schemeClr val="tx2"/>
                </a:solidFill>
              </a:defRPr>
            </a:lvl3pPr>
            <a:lvl4pPr marL="10287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4pPr>
            <a:lvl5pPr marL="1257300" indent="-342900">
              <a:buFont typeface="+mj-lt"/>
              <a:buAutoNum type="arabicPeriod"/>
              <a:defRPr lang="en-US" sz="14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6406B2-3637-5849-867E-A0ADC9D9DDA5}"/>
              </a:ext>
            </a:extLst>
          </p:cNvPr>
          <p:cNvCxnSpPr>
            <a:cxnSpLocks/>
          </p:cNvCxnSpPr>
          <p:nvPr/>
        </p:nvCxnSpPr>
        <p:spPr>
          <a:xfrm flipH="1">
            <a:off x="0" y="1822345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0E47964-42E3-09B6-4B3F-96D1060D072B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DD64E6-257D-65B2-D2A7-6A1002E1E580}"/>
              </a:ext>
            </a:extLst>
          </p:cNvPr>
          <p:cNvCxnSpPr>
            <a:cxnSpLocks/>
          </p:cNvCxnSpPr>
          <p:nvPr/>
        </p:nvCxnSpPr>
        <p:spPr>
          <a:xfrm>
            <a:off x="5321065" y="1822345"/>
            <a:ext cx="0" cy="5035655"/>
          </a:xfrm>
          <a:prstGeom prst="line">
            <a:avLst/>
          </a:prstGeom>
          <a:ln w="9525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07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1299"/>
            <a:ext cx="3689927" cy="1486906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515" y="2780147"/>
            <a:ext cx="6567049" cy="3359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BF5C1EC-3A2D-2E51-65A6-6155B3776C4A}"/>
              </a:ext>
            </a:extLst>
          </p:cNvPr>
          <p:cNvCxnSpPr>
            <a:cxnSpLocks/>
          </p:cNvCxnSpPr>
          <p:nvPr/>
        </p:nvCxnSpPr>
        <p:spPr>
          <a:xfrm flipH="1">
            <a:off x="0" y="239797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97FEE4-9B7E-CE58-4AA3-EC6E3E1861F3}"/>
              </a:ext>
            </a:extLst>
          </p:cNvPr>
          <p:cNvCxnSpPr>
            <a:cxnSpLocks/>
          </p:cNvCxnSpPr>
          <p:nvPr/>
        </p:nvCxnSpPr>
        <p:spPr>
          <a:xfrm>
            <a:off x="4469245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1961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360">
          <p15:clr>
            <a:srgbClr val="FBAE40"/>
          </p15:clr>
        </p15:guide>
        <p15:guide id="4" pos="2928">
          <p15:clr>
            <a:srgbClr val="FBAE40"/>
          </p15:clr>
        </p15:guide>
        <p15:guide id="5" pos="47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0473"/>
            <a:ext cx="3664107" cy="3864052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0349" y="720473"/>
            <a:ext cx="6309360" cy="5303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AC6891-86BE-FF41-E94E-AB97BFFB2322}"/>
              </a:ext>
            </a:extLst>
          </p:cNvPr>
          <p:cNvCxnSpPr>
            <a:cxnSpLocks/>
          </p:cNvCxnSpPr>
          <p:nvPr/>
        </p:nvCxnSpPr>
        <p:spPr>
          <a:xfrm>
            <a:off x="464346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51E503-5C8D-3CDA-5CC2-A56B4F2A619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8906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1995" y="559483"/>
            <a:ext cx="6825541" cy="100965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421943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94" y="2083837"/>
            <a:ext cx="6825545" cy="4032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81144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423739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4425535" y="1810995"/>
            <a:ext cx="7750205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9763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2644" y="669386"/>
            <a:ext cx="7231413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994" y="-5468"/>
            <a:ext cx="4011836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2644" y="1812385"/>
            <a:ext cx="7231407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408011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009212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080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80728"/>
            <a:ext cx="7281067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3728"/>
            <a:ext cx="7281061" cy="44238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5489" y="-6369"/>
            <a:ext cx="3996512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818828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519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78485"/>
            <a:ext cx="6369370" cy="10058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21484"/>
            <a:ext cx="6360897" cy="42921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77100" y="-8466"/>
            <a:ext cx="4914895" cy="6398066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727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733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8145"/>
            <a:ext cx="4000497" cy="16797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272880"/>
            <a:ext cx="4000497" cy="3789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3323" y="0"/>
            <a:ext cx="733867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40005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254AC9C-312D-B8D1-5D04-C0CE07B464DB}"/>
              </a:ext>
            </a:extLst>
          </p:cNvPr>
          <p:cNvCxnSpPr>
            <a:cxnSpLocks/>
          </p:cNvCxnSpPr>
          <p:nvPr/>
        </p:nvCxnSpPr>
        <p:spPr>
          <a:xfrm>
            <a:off x="4849331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59645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9922" y="458144"/>
            <a:ext cx="3909536" cy="14858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268396" cy="6396281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9922" y="2463789"/>
            <a:ext cx="3909534" cy="35610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9854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67EAFE-BA64-2156-9780-AA400F6F3026}"/>
              </a:ext>
            </a:extLst>
          </p:cNvPr>
          <p:cNvCxnSpPr>
            <a:cxnSpLocks/>
          </p:cNvCxnSpPr>
          <p:nvPr/>
        </p:nvCxnSpPr>
        <p:spPr>
          <a:xfrm>
            <a:off x="7271347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54F2342-86AA-3EA4-EB3B-2DB8D68315E6}"/>
              </a:ext>
            </a:extLst>
          </p:cNvPr>
          <p:cNvCxnSpPr>
            <a:cxnSpLocks/>
          </p:cNvCxnSpPr>
          <p:nvPr/>
        </p:nvCxnSpPr>
        <p:spPr>
          <a:xfrm flipH="1">
            <a:off x="7227420" y="2212509"/>
            <a:ext cx="493532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3793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959530"/>
            <a:ext cx="3512409" cy="219986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B441162-7125-E1E0-1B82-FCC1AB84227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857" y="-1"/>
            <a:ext cx="12192000" cy="364897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3613" y="3959529"/>
            <a:ext cx="7011183" cy="23695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1" y="6445997"/>
            <a:ext cx="35432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81FBD-8D67-B5E4-E22E-74E98EF89F80}"/>
              </a:ext>
            </a:extLst>
          </p:cNvPr>
          <p:cNvCxnSpPr>
            <a:cxnSpLocks/>
          </p:cNvCxnSpPr>
          <p:nvPr/>
        </p:nvCxnSpPr>
        <p:spPr>
          <a:xfrm>
            <a:off x="4290210" y="3648976"/>
            <a:ext cx="0" cy="3209024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92870-1B48-2935-21E8-3BC6F474C661}"/>
              </a:ext>
            </a:extLst>
          </p:cNvPr>
          <p:cNvCxnSpPr>
            <a:cxnSpLocks/>
          </p:cNvCxnSpPr>
          <p:nvPr/>
        </p:nvCxnSpPr>
        <p:spPr>
          <a:xfrm flipH="1">
            <a:off x="-857" y="3654706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71796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77072"/>
            <a:ext cx="4958078" cy="122548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2182"/>
            <a:ext cx="5758172" cy="4546457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142" y="377072"/>
            <a:ext cx="5558655" cy="57974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5758174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1842182"/>
            <a:ext cx="5758174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363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AB8C-6B7B-EBD3-4D71-F5150448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407360"/>
            <a:ext cx="3543299" cy="173282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BB1EB8E-9C26-DC32-8498-7F59983925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598"/>
            <a:ext cx="4460008" cy="3601433"/>
          </a:xfrm>
          <a:blipFill dpi="0" rotWithShape="1">
            <a:blip r:embed="rId2">
              <a:alphaModFix amt="8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27223-CF88-A3FD-E8DF-370D7C19B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2635" y="788704"/>
            <a:ext cx="6730614" cy="53858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8D70-266E-0D00-4BB2-CEF20A35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5433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8223-FDFF-908F-158A-3401127B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F0CF0-00B7-2F2A-2E49-88AB87A20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B92977-9D16-C370-F779-0B9C67993046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F50A3-1136-13EC-E499-F6DDCBFE375F}"/>
              </a:ext>
            </a:extLst>
          </p:cNvPr>
          <p:cNvCxnSpPr>
            <a:cxnSpLocks/>
          </p:cNvCxnSpPr>
          <p:nvPr/>
        </p:nvCxnSpPr>
        <p:spPr>
          <a:xfrm flipH="1">
            <a:off x="0" y="4068031"/>
            <a:ext cx="4460008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7362BC-3CD1-D6F5-CB9B-B2AAD7EAD176}"/>
              </a:ext>
            </a:extLst>
          </p:cNvPr>
          <p:cNvCxnSpPr>
            <a:cxnSpLocks/>
          </p:cNvCxnSpPr>
          <p:nvPr/>
        </p:nvCxnSpPr>
        <p:spPr>
          <a:xfrm>
            <a:off x="4460008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D58D1-F636-9620-582E-41FBB707092B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785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91F6A87-CC7B-D4BD-1F6A-C3948971C39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8720" y="5264780"/>
            <a:ext cx="9811512" cy="109728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lnSpc>
                <a:spcPct val="110000"/>
              </a:lnSpc>
              <a:defRPr lang="en-US" sz="2800" cap="all" spc="100" baseline="0" dirty="0">
                <a:solidFill>
                  <a:schemeClr val="tx2">
                    <a:lumMod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676656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ADE133-B5D6-A1C0-6BC9-C723D008EC0E}"/>
              </a:ext>
            </a:extLst>
          </p:cNvPr>
          <p:cNvCxnSpPr>
            <a:cxnSpLocks/>
          </p:cNvCxnSpPr>
          <p:nvPr/>
        </p:nvCxnSpPr>
        <p:spPr>
          <a:xfrm flipH="1">
            <a:off x="0" y="501866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8085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FB4D75-C478-D736-9A5A-B64DEA2410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93103" y="1493520"/>
            <a:ext cx="8805794" cy="3911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1pPr>
            <a:lvl2pPr marL="228600" indent="0" algn="ctr">
              <a:lnSpc>
                <a:spcPct val="110000"/>
              </a:lnSpc>
              <a:buNone/>
              <a:defRPr sz="4800" b="0">
                <a:solidFill>
                  <a:schemeClr val="tx2"/>
                </a:solidFill>
                <a:latin typeface="+mj-lt"/>
              </a:defRPr>
            </a:lvl2pPr>
            <a:lvl3pPr marL="457200" indent="0" algn="ctr">
              <a:lnSpc>
                <a:spcPct val="110000"/>
              </a:lnSpc>
              <a:buNone/>
              <a:defRPr sz="4400" b="0">
                <a:solidFill>
                  <a:schemeClr val="tx2"/>
                </a:solidFill>
                <a:latin typeface="+mj-lt"/>
              </a:defRPr>
            </a:lvl3pPr>
            <a:lvl4pPr marL="685800" indent="0" algn="ctr">
              <a:lnSpc>
                <a:spcPct val="110000"/>
              </a:lnSpc>
              <a:buNone/>
              <a:defRPr sz="4000" b="0">
                <a:solidFill>
                  <a:schemeClr val="tx2"/>
                </a:solidFill>
                <a:latin typeface="+mj-lt"/>
              </a:defRPr>
            </a:lvl4pPr>
            <a:lvl5pPr marL="914400" indent="0" algn="ctr">
              <a:lnSpc>
                <a:spcPct val="110000"/>
              </a:lnSpc>
              <a:buNone/>
              <a:defRPr sz="36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547212-589F-3A5C-2FF7-4E576B86E3A3}"/>
              </a:ext>
            </a:extLst>
          </p:cNvPr>
          <p:cNvCxnSpPr>
            <a:cxnSpLocks/>
          </p:cNvCxnSpPr>
          <p:nvPr/>
        </p:nvCxnSpPr>
        <p:spPr>
          <a:xfrm flipH="1">
            <a:off x="0" y="6398068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E2472-A2D0-B3C4-1592-E709B2EC9AD6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5E0B8-C6C3-8095-D53F-FB618E39D7CE}"/>
              </a:ext>
            </a:extLst>
          </p:cNvPr>
          <p:cNvCxnSpPr>
            <a:cxnSpLocks/>
          </p:cNvCxnSpPr>
          <p:nvPr/>
        </p:nvCxnSpPr>
        <p:spPr>
          <a:xfrm flipH="1">
            <a:off x="0" y="459932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D2DF78-237E-1E21-906C-273460F55F55}"/>
              </a:ext>
            </a:extLst>
          </p:cNvPr>
          <p:cNvCxnSpPr>
            <a:cxnSpLocks/>
          </p:cNvCxnSpPr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1300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47DCC75-46A1-9953-9459-89672E9805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2100" y="5549186"/>
            <a:ext cx="9199563" cy="6531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 cap="all" spc="100" baseline="0">
                <a:solidFill>
                  <a:schemeClr val="accent4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36EB602-83B2-B4EE-7805-FB94B77476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62100" y="823913"/>
            <a:ext cx="9199563" cy="3614737"/>
          </a:xfrm>
        </p:spPr>
        <p:txBody>
          <a:bodyPr anchor="ctr">
            <a:normAutofit/>
          </a:bodyPr>
          <a:lstStyle>
            <a:lvl1pPr marL="182880" indent="-182880">
              <a:buNone/>
              <a:defRPr sz="4000">
                <a:solidFill>
                  <a:schemeClr val="accent4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58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41338F2-C5CE-45A7-7748-138B348BA1E7}"/>
              </a:ext>
            </a:extLst>
          </p:cNvPr>
          <p:cNvCxnSpPr>
            <a:cxnSpLocks/>
          </p:cNvCxnSpPr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4CFB94-8AB3-65DB-0B12-EC4F7DAAEBF7}"/>
              </a:ext>
            </a:extLst>
          </p:cNvPr>
          <p:cNvCxnSpPr>
            <a:cxnSpLocks/>
          </p:cNvCxnSpPr>
          <p:nvPr/>
        </p:nvCxnSpPr>
        <p:spPr>
          <a:xfrm flipH="1">
            <a:off x="0" y="5043721"/>
            <a:ext cx="12192000" cy="0"/>
          </a:xfrm>
          <a:prstGeom prst="line">
            <a:avLst/>
          </a:prstGeom>
          <a:ln w="9525">
            <a:solidFill>
              <a:schemeClr val="tx2"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5146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27BF6-CDFA-AAF4-F7FD-F4F8D06FF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5309"/>
            <a:ext cx="11277600" cy="914400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B1904-05A3-AF54-90B7-8B4E5E9BFC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5613" y="1677988"/>
            <a:ext cx="5181600" cy="44989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D15555F-2C1E-04D7-CE37-D06ABFB568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3200" y="1677988"/>
            <a:ext cx="5180013" cy="4498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08197-F703-726D-4372-C7520052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FAA39-5E1E-3A94-5A04-C36BA19E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80595-19B6-01B9-FCF5-F94B0C1BB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C5098A-8A29-951C-ABCF-B4C329C3A94F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4A1D01-2B46-73F0-8DC7-926AA95F7DFC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856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F27A1-B3E2-4312-9475-76586DB13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6838"/>
            <a:ext cx="11274552" cy="914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D6984-5D8F-6F35-3DC2-352D46E75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475623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CD5136-48A0-D788-8CE2-627309A00EC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522538"/>
            <a:ext cx="5178425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7CEA6-7FDB-2A72-485B-D38A79C182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6248" y="1475622"/>
            <a:ext cx="5184648" cy="676690"/>
          </a:xfrm>
        </p:spPr>
        <p:txBody>
          <a:bodyPr anchor="ctr">
            <a:normAutofit/>
          </a:bodyPr>
          <a:lstStyle>
            <a:lvl1pPr marL="0" indent="0">
              <a:buNone/>
              <a:defRPr sz="1800" b="0" cap="all" spc="16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FC4D723F-4492-3B3B-CE74-0959714EEB1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56375" y="2522538"/>
            <a:ext cx="5175249" cy="38068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FA108E0-63AE-4B5C-404F-AD0FEC4AB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2E2EB77-3CF8-CDC9-D0D4-1AC07FC53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918C09E-FCA3-F1F6-7408-40D98FCE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4F547E-1AC1-2FFD-3E17-DC3F25B07823}"/>
              </a:ext>
            </a:extLst>
          </p:cNvPr>
          <p:cNvCxnSpPr>
            <a:cxnSpLocks/>
          </p:cNvCxnSpPr>
          <p:nvPr/>
        </p:nvCxnSpPr>
        <p:spPr>
          <a:xfrm>
            <a:off x="6096000" y="1362719"/>
            <a:ext cx="0" cy="5490348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95E25D-D4B1-2002-F8AB-8B987C1683D9}"/>
              </a:ext>
            </a:extLst>
          </p:cNvPr>
          <p:cNvCxnSpPr>
            <a:cxnSpLocks/>
          </p:cNvCxnSpPr>
          <p:nvPr/>
        </p:nvCxnSpPr>
        <p:spPr>
          <a:xfrm flipH="1">
            <a:off x="0" y="2268129"/>
            <a:ext cx="12192000" cy="0"/>
          </a:xfrm>
          <a:prstGeom prst="line">
            <a:avLst/>
          </a:prstGeom>
          <a:ln w="9525">
            <a:solidFill>
              <a:schemeClr val="tx2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35EA16-C700-BA75-F075-2E4BC3EAFBE2}"/>
              </a:ext>
            </a:extLst>
          </p:cNvPr>
          <p:cNvCxnSpPr>
            <a:cxnSpLocks/>
          </p:cNvCxnSpPr>
          <p:nvPr/>
        </p:nvCxnSpPr>
        <p:spPr>
          <a:xfrm flipH="1">
            <a:off x="0" y="1362719"/>
            <a:ext cx="12200040" cy="0"/>
          </a:xfrm>
          <a:prstGeom prst="line">
            <a:avLst/>
          </a:prstGeom>
          <a:ln w="9525">
            <a:solidFill>
              <a:srgbClr val="616867">
                <a:alpha val="4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05457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552C1-DD73-A90F-46E0-33A4D558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F8C10-87B8-01D2-2FEE-DAC41B9C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25E57E-7F73-3825-2158-80859BAD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634BF-792D-AC8C-B0E0-49226340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804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51370D-0A93-44DD-E049-EF3265B7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FF00A2-5853-30A7-62F5-7C7CB5A2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E97DA-A7DF-E3FF-8937-F6A36D17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745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319627-2791-E32D-91B0-857B27F822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11122508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528206"/>
            <a:ext cx="11122509" cy="275425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61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7CD7571-736E-B4CB-34E0-C8B31B5A98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34473"/>
            <a:ext cx="6768193" cy="1993399"/>
          </a:xfrm>
        </p:spPr>
        <p:txBody>
          <a:bodyPr anchor="b">
            <a:norm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28206"/>
            <a:ext cx="6768193" cy="1794899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" y="6445997"/>
            <a:ext cx="3949302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128EF9-7F8A-2F1B-41F7-2CA02A35CCA7}"/>
              </a:ext>
            </a:extLst>
          </p:cNvPr>
          <p:cNvCxnSpPr>
            <a:cxnSpLocks/>
          </p:cNvCxnSpPr>
          <p:nvPr/>
        </p:nvCxnSpPr>
        <p:spPr>
          <a:xfrm flipH="1">
            <a:off x="0" y="3191402"/>
            <a:ext cx="1219200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3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899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1000">
              <a:schemeClr val="tx1">
                <a:lumMod val="50000"/>
                <a:lumOff val="50000"/>
              </a:schemeClr>
            </a:gs>
            <a:gs pos="47000">
              <a:schemeClr val="bg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57148D-D60C-3359-4AC2-15A43E221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1"/>
            <a:ext cx="10515600" cy="11572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8731C-FCAE-A05A-5A11-57005B86A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52E70-B2DF-717F-6373-70A688FAD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445997"/>
            <a:ext cx="39493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215E5-6146-14C5-665E-EF04630DCB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37594" y="6445997"/>
            <a:ext cx="18421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FA3A-8706-3F4B-41CC-B024431F6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34800" y="6445997"/>
            <a:ext cx="457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963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08">
          <p15:clr>
            <a:srgbClr val="F26B43"/>
          </p15:clr>
        </p15:guide>
        <p15:guide id="3" pos="4872">
          <p15:clr>
            <a:srgbClr val="F26B43"/>
          </p15:clr>
        </p15:guide>
        <p15:guide id="4" pos="5160">
          <p15:clr>
            <a:srgbClr val="F26B43"/>
          </p15:clr>
        </p15:guide>
        <p15:guide id="5" pos="2520">
          <p15:clr>
            <a:srgbClr val="F26B43"/>
          </p15:clr>
        </p15:guide>
        <p15:guide id="6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shivamtyagi-jii.github.io/StallScout/" TargetMode="Externa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595360" y="640080"/>
            <a:ext cx="1920240" cy="19202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1828800"/>
            <a:ext cx="1097280" cy="109728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Oval 3"/>
          <p:cNvSpPr/>
          <p:nvPr/>
        </p:nvSpPr>
        <p:spPr>
          <a:xfrm>
            <a:off x="9509760" y="2667000"/>
            <a:ext cx="640080" cy="640080"/>
          </a:xfrm>
          <a:prstGeom prst="ellipse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621792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6D6B9"/>
                </a:solidFill>
                <a:latin typeface="Aptos"/>
              </a:defRPr>
            </a:pPr>
            <a:r>
              <a:rPr sz="1400" dirty="0">
                <a:solidFill>
                  <a:srgbClr val="FF0000"/>
                </a:solidFill>
              </a:rPr>
              <a:t>CAMPUS COMMERCE • REAL-TIME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6583680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4800" b="1">
                <a:solidFill>
                  <a:srgbClr val="F5F8FC"/>
                </a:solidFill>
                <a:latin typeface="Aptos"/>
              </a:defRPr>
            </a:pPr>
            <a:r>
              <a:rPr dirty="0" err="1">
                <a:solidFill>
                  <a:schemeClr val="bg1"/>
                </a:solidFill>
              </a:rPr>
              <a:t>StallScout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452542"/>
            <a:ext cx="617220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400" b="0">
                <a:solidFill>
                  <a:srgbClr val="B7C4D6"/>
                </a:solidFill>
                <a:latin typeface="Aptos"/>
              </a:defRPr>
            </a:pPr>
            <a:r>
              <a:rPr sz="2000" dirty="0">
                <a:solidFill>
                  <a:schemeClr val="accent1">
                    <a:lumMod val="50000"/>
                  </a:schemeClr>
                </a:solidFill>
              </a:rPr>
              <a:t>Find the fastest stall.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sz="2000" dirty="0">
                <a:solidFill>
                  <a:schemeClr val="accent1">
                    <a:lumMod val="50000"/>
                  </a:schemeClr>
                </a:solidFill>
              </a:rPr>
              <a:t>Order smarter. Queue less.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612648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5F8FC"/>
                </a:solidFill>
                <a:latin typeface="Aptos"/>
              </a:defRPr>
            </a:pPr>
            <a:r>
              <a:rPr dirty="0"/>
              <a:t>A student + shopkeeper portal for live inventory, digital queues, and smarter campus decisions.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C7FAAB-11C1-1795-CCF0-F8E7B89F6BCA}"/>
              </a:ext>
            </a:extLst>
          </p:cNvPr>
          <p:cNvSpPr txBox="1"/>
          <p:nvPr/>
        </p:nvSpPr>
        <p:spPr>
          <a:xfrm>
            <a:off x="8873067" y="4191000"/>
            <a:ext cx="2674065" cy="19697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2">
                    <a:lumMod val="10000"/>
                  </a:schemeClr>
                </a:solidFill>
              </a:rPr>
              <a:t>Team: </a:t>
            </a:r>
            <a:r>
              <a:rPr lang="en-US" sz="3200" dirty="0" err="1">
                <a:solidFill>
                  <a:schemeClr val="bg2">
                    <a:lumMod val="10000"/>
                  </a:schemeClr>
                </a:solidFill>
              </a:rPr>
              <a:t>Belivers</a:t>
            </a:r>
            <a:endParaRPr lang="en-US" sz="3200" dirty="0">
              <a:solidFill>
                <a:schemeClr val="bg2">
                  <a:lumMod val="1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Team members: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1]Vedant Rajaram </a:t>
            </a:r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Bokare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2]Shivam Kumar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3]Tiwari Swapnil Manoj</a:t>
            </a:r>
          </a:p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4]Soham </a:t>
            </a:r>
            <a:r>
              <a:rPr lang="en-IN" dirty="0" err="1">
                <a:solidFill>
                  <a:schemeClr val="accent1">
                    <a:lumMod val="50000"/>
                  </a:schemeClr>
                </a:solidFill>
              </a:rPr>
              <a:t>Kalsotra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7D3E9-82E9-9DA2-7848-49520724EC68}"/>
              </a:ext>
            </a:extLst>
          </p:cNvPr>
          <p:cNvSpPr txBox="1"/>
          <p:nvPr/>
        </p:nvSpPr>
        <p:spPr>
          <a:xfrm>
            <a:off x="670560" y="200810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https://shivamtyagi-jii.github.io/StallScout/</a:t>
            </a:r>
            <a:endParaRPr lang="en-IN" dirty="0">
              <a:solidFill>
                <a:srgbClr val="0070C0"/>
              </a:solidFill>
            </a:endParaRPr>
          </a:p>
          <a:p>
            <a:endParaRPr lang="en-IN" dirty="0">
              <a:solidFill>
                <a:srgbClr val="0070C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A77B1E-09A9-965C-DE8C-A23722947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1815" y="152805"/>
            <a:ext cx="2184130" cy="21841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585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200" dirty="0">
                <a:solidFill>
                  <a:schemeClr val="accent1">
                    <a:lumMod val="50000"/>
                  </a:schemeClr>
                </a:solidFill>
              </a:rPr>
              <a:t>01 •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The campus stall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64008" cy="182880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Wasted</a:t>
            </a:r>
            <a:r>
              <a:rPr dirty="0"/>
              <a:t> </a:t>
            </a:r>
            <a:r>
              <a:rPr dirty="0">
                <a:solidFill>
                  <a:schemeClr val="bg2">
                    <a:lumMod val="10000"/>
                  </a:schemeClr>
                </a:solidFill>
              </a:rPr>
              <a:t>trips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94560"/>
            <a:ext cx="315468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Students may walk to a Bhawan only to discover an item is unavailable or the stall is closed.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64008" cy="182880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Uncertain</a:t>
            </a:r>
            <a:r>
              <a:rPr dirty="0"/>
              <a:t> </a:t>
            </a:r>
            <a:r>
              <a:rPr dirty="0">
                <a:solidFill>
                  <a:schemeClr val="bg2">
                    <a:lumMod val="10000"/>
                  </a:schemeClr>
                </a:solidFill>
              </a:rPr>
              <a:t>queues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Crowds and wait times are hard to judge before leaving a room or study 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64008" cy="1828800"/>
          </a:xfrm>
          <a:prstGeom prst="rect">
            <a:avLst/>
          </a:prstGeom>
          <a:solidFill>
            <a:srgbClr val="FF6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Counter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194560"/>
            <a:ext cx="315468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Shopkeepers handle shouted orders, changing stock, and rush-hour demand at once.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1069848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75000"/>
                  </a:schemeClr>
                </a:solidFill>
              </a:rPr>
              <a:t>The opportunity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1069848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F5F8FC"/>
                </a:solidFill>
                <a:latin typeface="Aptos"/>
              </a:defRPr>
            </a:pPr>
            <a:r>
              <a:t>Give both sides one shared, browser-based view of availability and order status—so students can make better choices and stalls can organize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585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200" dirty="0">
                <a:solidFill>
                  <a:schemeClr val="accent1">
                    <a:lumMod val="75000"/>
                  </a:schemeClr>
                </a:solidFill>
              </a:rPr>
              <a:t>02 •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rPr dirty="0" err="1"/>
              <a:t>StallScout</a:t>
            </a:r>
            <a:r>
              <a:rPr dirty="0"/>
              <a:t>: one system, two focused portals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57800" cy="34747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64008" cy="347472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6479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STUDENT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4892040" cy="166404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Browse stalls and items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Check reported stock and stall status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Compare estimated travel + queue time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Place a pre-order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Receive a ready-for-pickup alert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257800" cy="34747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64008" cy="347472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76479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SHOPKEEPER</a:t>
            </a:r>
            <a:r>
              <a:rPr dirty="0"/>
              <a:t> </a:t>
            </a:r>
            <a:r>
              <a:rPr dirty="0">
                <a:solidFill>
                  <a:schemeClr val="bg2">
                    <a:lumMod val="10000"/>
                  </a:schemeClr>
                </a:solidFill>
              </a:rPr>
              <a:t>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94560"/>
            <a:ext cx="4892040" cy="166404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View incoming orders in a queue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Update item availability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Set crowd status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Mark orders ready, then picked up</a:t>
            </a:r>
          </a:p>
          <a:p>
            <a:pPr>
              <a:spcAft>
                <a:spcPts val="700"/>
              </a:spcAft>
              <a:defRPr sz="16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Review completed orders in a separate area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4088" y="343817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03 •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How the experience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Oval 5"/>
          <p:cNvSpPr/>
          <p:nvPr/>
        </p:nvSpPr>
        <p:spPr>
          <a:xfrm>
            <a:off x="1161288" y="1783080"/>
            <a:ext cx="640080" cy="64008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1288" y="1938528"/>
            <a:ext cx="640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0D182B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697480"/>
            <a:ext cx="1783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1965960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>
                <a:solidFill>
                  <a:schemeClr val="accent1">
                    <a:lumMod val="75000"/>
                  </a:schemeClr>
                </a:solidFill>
              </a:rPr>
              <a:t>Student searches for an item or stall.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20240"/>
            <a:ext cx="685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6D6B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3493008" y="1783080"/>
            <a:ext cx="640080" cy="64008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93008" y="1938528"/>
            <a:ext cx="640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0D182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2697480"/>
            <a:ext cx="1783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79" y="3154680"/>
            <a:ext cx="1965960" cy="75097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lang="en-US" sz="1400" dirty="0">
                <a:solidFill>
                  <a:srgbClr val="FFFF00"/>
                </a:solidFill>
              </a:rPr>
              <a:t>Website</a:t>
            </a:r>
            <a:r>
              <a:rPr sz="1400" dirty="0">
                <a:solidFill>
                  <a:srgbClr val="FFFF00"/>
                </a:solidFill>
              </a:rPr>
              <a:t> ranks </a:t>
            </a:r>
            <a:r>
              <a:rPr sz="1600" dirty="0">
                <a:solidFill>
                  <a:srgbClr val="FFFF00"/>
                </a:solidFill>
              </a:rPr>
              <a:t>eligible</a:t>
            </a:r>
            <a:r>
              <a:rPr sz="1400" dirty="0">
                <a:solidFill>
                  <a:srgbClr val="FFFF00"/>
                </a:solidFill>
              </a:rPr>
              <a:t> stalls using estimated travel and queue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920240"/>
            <a:ext cx="685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6D6B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5824728" y="1783080"/>
            <a:ext cx="640080" cy="64008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24728" y="1938528"/>
            <a:ext cx="640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0D182B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2697480"/>
            <a:ext cx="1783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54680"/>
            <a:ext cx="1965960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>
                <a:solidFill>
                  <a:srgbClr val="FFC000"/>
                </a:solidFill>
              </a:rPr>
              <a:t>Student submits a pre-order from the portal.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920240"/>
            <a:ext cx="685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6D6B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8156447" y="1783080"/>
            <a:ext cx="640080" cy="6400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56447" y="1938528"/>
            <a:ext cx="640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0D182B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1" y="2697480"/>
            <a:ext cx="1783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t>Prepare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3154680"/>
            <a:ext cx="1965960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>
                <a:solidFill>
                  <a:srgbClr val="FF0000"/>
                </a:solidFill>
              </a:rPr>
              <a:t>Shopkeeper sees the incoming order and updates its status.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1920240"/>
            <a:ext cx="685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6D6B9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Oval 25"/>
          <p:cNvSpPr/>
          <p:nvPr/>
        </p:nvSpPr>
        <p:spPr>
          <a:xfrm>
            <a:off x="10488167" y="17830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488167" y="1938528"/>
            <a:ext cx="6400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700" b="1">
                <a:solidFill>
                  <a:srgbClr val="0D182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4392" y="2697480"/>
            <a:ext cx="1783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t>Collect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3154680"/>
            <a:ext cx="1965960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>
                <a:solidFill>
                  <a:srgbClr val="C00000"/>
                </a:solidFill>
              </a:rPr>
              <a:t>Student receives a ready alert and picks up the order</a:t>
            </a:r>
            <a:r>
              <a:rPr dirty="0">
                <a:solidFill>
                  <a:srgbClr val="C00000"/>
                </a:solidFill>
              </a:rPr>
              <a:t>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983480"/>
            <a:ext cx="10332720" cy="77724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4400" y="4983480"/>
            <a:ext cx="64008" cy="77724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15568" y="5148072"/>
            <a:ext cx="10162032" cy="273921"/>
          </a:xfrm>
          <a:prstGeom prst="rect">
            <a:avLst/>
          </a:prstGeom>
          <a:solidFill>
            <a:schemeClr val="bg1">
              <a:lumMod val="75000"/>
              <a:alpha val="20000"/>
            </a:schemeClr>
          </a:solidFill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Important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112" y="5460122"/>
            <a:ext cx="996696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rgbClr val="00B0F0"/>
                </a:solidFill>
              </a:rPr>
              <a:t>Alerts and order states depend on connected clients and broker availability; production use needs robust persistence and access controls.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04 • </a:t>
            </a: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STUDENT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VALUE</a:t>
            </a:r>
            <a:endParaRPr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For students: decide before you walk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64008" cy="182880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Live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See the latest stock status reported by the stall.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64008" cy="182880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Smart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Compare estimated travel time plus queue wait—not distance alone.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64008" cy="182880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Pre-order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Order remotely and listen for a ready-for-pickup notification.</a:t>
            </a:r>
          </a:p>
        </p:txBody>
      </p:sp>
      <p:sp>
        <p:nvSpPr>
          <p:cNvPr id="24" name="Rounded Rectangle 13">
            <a:extLst>
              <a:ext uri="{FF2B5EF4-FFF2-40B4-BE49-F238E27FC236}">
                <a16:creationId xmlns:a16="http://schemas.microsoft.com/office/drawing/2014/main" id="{D1135DFC-BF7D-98F4-1F23-0C966EBD0F71}"/>
              </a:ext>
            </a:extLst>
          </p:cNvPr>
          <p:cNvSpPr/>
          <p:nvPr/>
        </p:nvSpPr>
        <p:spPr>
          <a:xfrm>
            <a:off x="2035664" y="4343400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13">
            <a:extLst>
              <a:ext uri="{FF2B5EF4-FFF2-40B4-BE49-F238E27FC236}">
                <a16:creationId xmlns:a16="http://schemas.microsoft.com/office/drawing/2014/main" id="{3178A0D4-B3A7-A5A5-6F66-A29B25CE11AB}"/>
              </a:ext>
            </a:extLst>
          </p:cNvPr>
          <p:cNvSpPr/>
          <p:nvPr/>
        </p:nvSpPr>
        <p:spPr>
          <a:xfrm>
            <a:off x="6787546" y="4370832"/>
            <a:ext cx="352044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E1849D-9BFD-3F20-D2A6-CD689279F53A}"/>
              </a:ext>
            </a:extLst>
          </p:cNvPr>
          <p:cNvSpPr txBox="1"/>
          <p:nvPr/>
        </p:nvSpPr>
        <p:spPr>
          <a:xfrm>
            <a:off x="2246949" y="4600431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</a:rPr>
              <a:t>Digital Queue &amp; Crowd Control</a:t>
            </a:r>
            <a:endParaRPr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1B0847-E683-B5AE-134E-03736EE52E39}"/>
              </a:ext>
            </a:extLst>
          </p:cNvPr>
          <p:cNvSpPr txBox="1"/>
          <p:nvPr/>
        </p:nvSpPr>
        <p:spPr>
          <a:xfrm>
            <a:off x="7153306" y="4600431"/>
            <a:ext cx="315468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</a:rPr>
              <a:t>Zero-Friction &amp; Zero App Downloads</a:t>
            </a:r>
            <a:endParaRPr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8F3780-574C-0572-1720-A92C335BBFD4}"/>
              </a:ext>
            </a:extLst>
          </p:cNvPr>
          <p:cNvSpPr txBox="1"/>
          <p:nvPr/>
        </p:nvSpPr>
        <p:spPr>
          <a:xfrm>
            <a:off x="2218544" y="5072383"/>
            <a:ext cx="315468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Shopkeepers manage incoming orders on an organized dashboard and toggle crowd levels to balance campus foot traffic.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0AA53D-DABB-D993-D5C6-98DD222A0ED9}"/>
              </a:ext>
            </a:extLst>
          </p:cNvPr>
          <p:cNvSpPr txBox="1"/>
          <p:nvPr/>
        </p:nvSpPr>
        <p:spPr>
          <a:xfrm>
            <a:off x="7153306" y="520921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Runs entirely in any web browser with instant real-time cloud syncing.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B359C0-272E-E93B-84C0-5E6F211A28FE}"/>
              </a:ext>
            </a:extLst>
          </p:cNvPr>
          <p:cNvSpPr/>
          <p:nvPr/>
        </p:nvSpPr>
        <p:spPr>
          <a:xfrm>
            <a:off x="6755542" y="4389975"/>
            <a:ext cx="64008" cy="18288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7F71015-B780-472C-51BC-45C5A18B2756}"/>
              </a:ext>
            </a:extLst>
          </p:cNvPr>
          <p:cNvSpPr/>
          <p:nvPr/>
        </p:nvSpPr>
        <p:spPr>
          <a:xfrm>
            <a:off x="1987658" y="4360333"/>
            <a:ext cx="64008" cy="1828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>
                <a:solidFill>
                  <a:schemeClr val="accent1">
                    <a:lumMod val="50000"/>
                  </a:schemeClr>
                </a:solidFill>
              </a:rPr>
              <a:t>05 • SHOPKEEPER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For shopkeepers: a calmer, clearer 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64008" cy="1874519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Digital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Incoming orders appear in a focused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64008" cy="1874519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One-click updates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Change stock or crowd status to inform students.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64008" cy="1874519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Order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194560"/>
            <a:ext cx="315468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Move orders from active queue to ready, then picked 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77639"/>
            <a:ext cx="10515600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Queue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0560"/>
            <a:ext cx="1033272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5F8FC"/>
                </a:solidFill>
                <a:latin typeface="Aptos"/>
              </a:defRPr>
            </a:pPr>
            <a:r>
              <a:t>Active orders remain visible while they need action. Picked-up orders can move into a collapsible completed-orders area, keeping the main screen readable during rushes.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82D3814-D1D2-B232-C0AF-8CE941288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5254752"/>
            <a:ext cx="672465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06 • 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rPr dirty="0"/>
              <a:t>Architecture: lightweight browser clients + MQTT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2743200" cy="14173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64008" cy="141732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856232"/>
            <a:ext cx="23774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Student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86000"/>
            <a:ext cx="2377440" cy="2739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HTML • CSS • Vanilla 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91640"/>
            <a:ext cx="2743200" cy="14173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709160" y="1691640"/>
            <a:ext cx="64008" cy="141732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10328" y="1856232"/>
            <a:ext cx="23774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MQTT broker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2286000"/>
            <a:ext cx="2377440" cy="563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EMQX public broker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WebSocket transport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91640"/>
            <a:ext cx="2743200" cy="14173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23960" y="1691640"/>
            <a:ext cx="64008" cy="141732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25128" y="1856232"/>
            <a:ext cx="23774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Shopkeeper browser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286000"/>
            <a:ext cx="2377440" cy="2739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HTML • CSS • Vanilla 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2057400"/>
            <a:ext cx="105156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rgbClr val="FFFF00"/>
                </a:solidFill>
              </a:rPr>
              <a:t>Publish 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57400"/>
            <a:ext cx="114300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rgbClr val="FFFF00"/>
                </a:solidFill>
              </a:rPr>
              <a:t>↔ Subscribe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794760"/>
            <a:ext cx="4663440" cy="13258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" y="3794760"/>
            <a:ext cx="64008" cy="132588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15568" y="3959352"/>
            <a:ext cx="42976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Browser-local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389120"/>
            <a:ext cx="4297679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localStorage</a:t>
            </a:r>
            <a:r>
              <a:rPr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can persist state on that browser/device and support same-browser reloads.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794760"/>
            <a:ext cx="4663440" cy="13258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0" y="3794760"/>
            <a:ext cx="64008" cy="132588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84848" y="3959352"/>
            <a:ext cx="42976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Cross-device messages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4287516"/>
            <a:ext cx="4297679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MQTT topics carry published updates to subscribed clients; this is messaging, not a durable shared database by itself.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07 • TOOLS AND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" cy="1874519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48840"/>
            <a:ext cx="315468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HTML5 semantic structure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CSS3: Grid, Flexbox, variables, animations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Vanilla JavaScript (ES6+)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64008" cy="1874519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Real-time messaging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48840"/>
            <a:ext cx="315468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mqtt.js client library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MQTT over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WebSockets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EMQX public broker endpoint in prototype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54480"/>
            <a:ext cx="352044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554480"/>
            <a:ext cx="64008" cy="1874519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Browser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148840"/>
            <a:ext cx="315468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 Audio API for synthesized alerts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Geolocation API for GPS coordinates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localStorage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local persistence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94760"/>
            <a:ext cx="5257800" cy="15087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64008" cy="150876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3959352"/>
            <a:ext cx="489204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Catalog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4389120"/>
            <a:ext cx="489204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A static JavaScript/JSON-style catalog is described in the implementation notes; spreadsheet source names were supplied as fruitshop.xlsx, statioanary.xlsx, and price list.xlsx.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94760"/>
            <a:ext cx="5257800" cy="15087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794760"/>
            <a:ext cx="64008" cy="1508760"/>
          </a:xfrm>
          <a:prstGeom prst="rect">
            <a:avLst/>
          </a:prstGeom>
          <a:solidFill>
            <a:srgbClr val="FF6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3959352"/>
            <a:ext cx="489204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89120"/>
            <a:ext cx="489204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Hosting platform was not specified in the supplied details. Add the actual platform and build/deploy process before presenting this as complete.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>
                <a:solidFill>
                  <a:schemeClr val="accent1">
                    <a:lumMod val="50000"/>
                  </a:schemeClr>
                </a:solidFill>
              </a:rPr>
              <a:t>08 • ROUTING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rPr dirty="0"/>
              <a:t>Smart Route Finder: estimate total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07040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Total estimated time = travel time + queue wait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423160"/>
            <a:ext cx="342900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423160"/>
            <a:ext cx="64008" cy="1874519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587752"/>
            <a:ext cx="306324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1 • 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017520"/>
            <a:ext cx="306324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Haversine formula estimates straight-line distance between GPS coordinates and a stall coordinate.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42900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423160"/>
            <a:ext cx="64008" cy="1874519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587752"/>
            <a:ext cx="306324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2 • Walking estimate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6324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Prototype assumptions: multiply straight-line distance by 1.25, then divide by 80 m/min.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423160"/>
            <a:ext cx="342900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2423160"/>
            <a:ext cx="64008" cy="1874519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587752"/>
            <a:ext cx="306324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3 • Rank stalls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7324" y="3061462"/>
            <a:ext cx="306324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Add the stall's current estimated queue wait and rank open, eligible stalls by total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51560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B7C4D6"/>
                </a:solidFill>
                <a:latin typeface="Aptos"/>
              </a:defRPr>
            </a:pPr>
            <a:r>
              <a:rPr sz="16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Accuracy caveat: the 1.25 pathway factor and 80 m/min walking speed are heuristics, not route measurements. Buildings, paths, crossings, GPS error, accessibility, and actual queues can change the result.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4349F5F-EC00-8BF4-E872-D79DF8590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532119"/>
            <a:ext cx="10348857" cy="8382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8507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>
                <a:solidFill>
                  <a:schemeClr val="accent1">
                    <a:lumMod val="50000"/>
                  </a:schemeClr>
                </a:solidFill>
              </a:rPr>
              <a:t>09 • INTERACTION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Real-time updates and audio alerts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5780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64008" cy="1874519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10512"/>
            <a:ext cx="489204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MQTT message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40280"/>
            <a:ext cx="489204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A client publishes an update to a topic; other subscribed clients can receive it while connected. The broker and network determine delivery timing.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57800" cy="1874519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64008" cy="1874519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810512"/>
            <a:ext cx="489204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Audio unlock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240280"/>
            <a:ext cx="489204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Browsers often restrict autoplay. A user gesture such as clicking Login or an action button can initialize/resume AudioContext, subject to browser behavior.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700C4EC-AC1C-9F59-CDF1-AAC5EC93E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23" y="3685031"/>
            <a:ext cx="8407673" cy="28952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>
                <a:solidFill>
                  <a:schemeClr val="accent1">
                    <a:lumMod val="50000"/>
                  </a:schemeClr>
                </a:solidFill>
              </a:rPr>
              <a:t>10 • HACKATHON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Challenges we addressed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5349240" cy="15544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64008" cy="155448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673351"/>
            <a:ext cx="49834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Real-time sync without a custom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03120"/>
            <a:ext cx="4983479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Used MQTT over WebSockets to exchange updates between browser clients.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49240" cy="15544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508760"/>
            <a:ext cx="64008" cy="155448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73351"/>
            <a:ext cx="49834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“Walking through walls” estimates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03120"/>
            <a:ext cx="4983479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Added a pathway multiplier to improve on straight-line distance; still an approximation.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5349240" cy="15544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429000"/>
            <a:ext cx="64008" cy="155448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3593592"/>
            <a:ext cx="49834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Browser audio restrictions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023360"/>
            <a:ext cx="4983479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Synthesized alerts with Web Audio API and initialized audio after user interaction.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29000"/>
            <a:ext cx="5349240" cy="155448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429000"/>
            <a:ext cx="64008" cy="1554480"/>
          </a:xfrm>
          <a:prstGeom prst="rect">
            <a:avLst/>
          </a:prstGeom>
          <a:solidFill>
            <a:srgbClr val="FF6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3593592"/>
            <a:ext cx="4983479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Endless active order 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023360"/>
            <a:ext cx="4983479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Separated picked-up orders from the active queue in a completed-orders drawer.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11 • RELIABILITY &amp;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What we would harden before real campus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20440" cy="19659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" cy="1965960"/>
          </a:xfrm>
          <a:prstGeom prst="rect">
            <a:avLst/>
          </a:prstGeom>
          <a:solidFill>
            <a:srgbClr val="FF6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48840"/>
            <a:ext cx="3154680" cy="8740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 authenticated accounts and server/broker-enforced permissions. Frontend-only passcodes are not strong security.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20440" cy="19659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554480"/>
            <a:ext cx="64008" cy="196596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Shared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148840"/>
            <a:ext cx="315468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Use a durable database and trusted service layer for orders, stock, and history; localStorage is device-local.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54480"/>
            <a:ext cx="3520440" cy="19659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554480"/>
            <a:ext cx="64008" cy="196596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19072"/>
            <a:ext cx="3154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Privacy &amp;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148840"/>
            <a:ext cx="3154680" cy="6740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Request location only when needed, explain its use, and provide manual location/stall selection as a fallback.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86200"/>
            <a:ext cx="5257800" cy="14173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886200"/>
            <a:ext cx="64008" cy="141732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4050791"/>
            <a:ext cx="489204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Message integrity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4480560"/>
            <a:ext cx="489204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>
                <a:solidFill>
                  <a:schemeClr val="tx1">
                    <a:lumMod val="75000"/>
                    <a:lumOff val="25000"/>
                  </a:schemeClr>
                </a:solidFill>
              </a:rPr>
              <a:t>Validate payloads, scope topics by stall, avoid exposing sensitive order data, and handle duplicate/stale messages.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886200"/>
            <a:ext cx="5257800" cy="141732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886200"/>
            <a:ext cx="64008" cy="141732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4050791"/>
            <a:ext cx="489204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Operational resilience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0560"/>
            <a:ext cx="489204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Show connection status, retry safely, reconcile state after reconnect, and test concurrent edits and order transitions.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>
                <a:solidFill>
                  <a:schemeClr val="accent1">
                    <a:lumMod val="50000"/>
                  </a:schemeClr>
                </a:solidFill>
              </a:rPr>
              <a:t>12 •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How we would measure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42900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64008" cy="182880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10512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>
                <a:solidFill>
                  <a:schemeClr val="bg2">
                    <a:lumMod val="10000"/>
                  </a:schemeClr>
                </a:solidFill>
              </a:rPr>
              <a:t>Student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40280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Fewer wasted trips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Lower time from search to pickup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Better accuracy of stock information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297680"/>
            <a:ext cx="342900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" y="4258733"/>
            <a:ext cx="64008" cy="182880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4443645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Shopkeeper outcomes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4863702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Shorter counter queues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Fewer missed orders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Easier handling of peak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9984" y="134061"/>
            <a:ext cx="3429000" cy="182880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65976" y="134061"/>
            <a:ext cx="64008" cy="182880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69141" y="353669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System outcomes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55332" y="956945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Update delivery latency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Reconnect recovery rate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Order state consistency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DE9F42-F7E2-3864-BCC6-D3FF5FD72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293087"/>
            <a:ext cx="7587827" cy="42112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26D6B9"/>
                </a:solidFill>
                <a:latin typeface="Aptos"/>
              </a:defRPr>
            </a:pPr>
            <a:r>
              <a:rPr sz="1100" dirty="0">
                <a:solidFill>
                  <a:schemeClr val="accent1">
                    <a:lumMod val="50000"/>
                  </a:schemeClr>
                </a:solidFill>
              </a:rPr>
              <a:t>13 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F5F8FC"/>
                </a:solidFill>
                <a:latin typeface="Aptos"/>
              </a:defRPr>
            </a:pPr>
            <a: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261872"/>
            <a:ext cx="749808" cy="50292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700"/>
              </a:spcAft>
              <a:defRPr sz="900" b="1">
                <a:solidFill>
                  <a:srgbClr val="B7C4D6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933" y="2799689"/>
            <a:ext cx="3429000" cy="214884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8996" y="2799689"/>
            <a:ext cx="64008" cy="2148840"/>
          </a:xfrm>
          <a:prstGeom prst="rect">
            <a:avLst/>
          </a:prstGeom>
          <a:solidFill>
            <a:srgbClr val="26D6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7919" y="2933068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Phase 1 • Stabilize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569" y="3620233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Test two-device sync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Validate order lifecycle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Add reconnect and error states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4820" y="45720"/>
            <a:ext cx="3429000" cy="214884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29270" y="65865"/>
            <a:ext cx="64008" cy="2148840"/>
          </a:xfrm>
          <a:prstGeom prst="rect">
            <a:avLst/>
          </a:prstGeom>
          <a:solidFill>
            <a:srgbClr val="5B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9140" y="491634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Phase 2 • Production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835088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Authentication and permissions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Durable database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Broker isolation and monitoring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9682" y="59092"/>
            <a:ext cx="3429000" cy="214884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96691" y="39158"/>
            <a:ext cx="64008" cy="2148840"/>
          </a:xfrm>
          <a:prstGeom prst="rect">
            <a:avLst/>
          </a:prstGeom>
          <a:solidFill>
            <a:srgbClr val="FFB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386359"/>
            <a:ext cx="3063240" cy="30469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Phase 3 • Smarter 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9684" y="686795"/>
            <a:ext cx="3063240" cy="85356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Real campus paths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Better wait-time estimates</a:t>
            </a:r>
          </a:p>
          <a:p>
            <a:pPr>
              <a:spcAft>
                <a:spcPts val="700"/>
              </a:spcAft>
              <a:defRPr sz="1300" b="0">
                <a:solidFill>
                  <a:srgbClr val="B7C4D6"/>
                </a:solidFill>
                <a:latin typeface="Aptos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• Accessibility-aware route options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0FE090A-8931-3663-CC0B-B427712C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1159" y="2581234"/>
            <a:ext cx="8104632" cy="378513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5029200" cy="2431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26D6B9"/>
                </a:solidFill>
                <a:latin typeface="Aptos"/>
              </a:defRPr>
            </a:pPr>
            <a:r>
              <a:rPr dirty="0">
                <a:solidFill>
                  <a:srgbClr val="FF0000"/>
                </a:solidFill>
              </a:rPr>
              <a:t>STALLSCOUT • 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6854613" cy="1148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5F8FC"/>
                </a:solidFill>
                <a:latin typeface="Aptos"/>
              </a:defRPr>
            </a:pPr>
            <a:r>
              <a:rPr dirty="0"/>
              <a:t>Less uncertainty.</a:t>
            </a:r>
          </a:p>
          <a:p>
            <a:pPr>
              <a:spcAft>
                <a:spcPts val="700"/>
              </a:spcAft>
              <a:defRPr sz="3200" b="1">
                <a:solidFill>
                  <a:srgbClr val="F5F8FC"/>
                </a:solidFill>
                <a:latin typeface="Aptos"/>
              </a:defRPr>
            </a:pPr>
            <a:r>
              <a:rPr dirty="0"/>
              <a:t>More organized campus commerce.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0"/>
            <a:ext cx="6504093" cy="124341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spcAft>
                <a:spcPts val="700"/>
              </a:spcAft>
              <a:defRPr sz="1900" b="0">
                <a:solidFill>
                  <a:srgbClr val="B7C4D6"/>
                </a:solidFill>
                <a:latin typeface="Aptos"/>
              </a:defRPr>
            </a:pPr>
            <a:r>
              <a:rPr dirty="0" err="1">
                <a:solidFill>
                  <a:schemeClr val="bg2">
                    <a:lumMod val="10000"/>
                  </a:schemeClr>
                </a:solidFill>
              </a:rPr>
              <a:t>StallScout</a:t>
            </a:r>
            <a:r>
              <a:rPr dirty="0">
                <a:solidFill>
                  <a:schemeClr val="bg2">
                    <a:lumMod val="10000"/>
                  </a:schemeClr>
                </a:solidFill>
              </a:rPr>
              <a:t> connects student decisions with shopkeeper operations through a lightweight web experience—combining reported availability, digital order flow, and estimated travel-plus-queue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1143000"/>
            <a:ext cx="2834640" cy="4480560"/>
          </a:xfrm>
          <a:prstGeom prst="roundRect">
            <a:avLst/>
          </a:prstGeom>
          <a:solidFill>
            <a:schemeClr val="bg1"/>
          </a:solidFill>
          <a:ln>
            <a:solidFill>
              <a:srgbClr val="2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23960" y="1600200"/>
            <a:ext cx="21945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26D6B9"/>
                </a:solidFill>
                <a:latin typeface="Aptos"/>
              </a:defRPr>
            </a:pPr>
            <a:r>
              <a:t>FIND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240280"/>
            <a:ext cx="21945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5BBEFF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880360"/>
            <a:ext cx="219456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800" b="1">
                <a:solidFill>
                  <a:srgbClr val="FFB159"/>
                </a:solidFill>
                <a:latin typeface="Aptos"/>
              </a:defRPr>
            </a:pPr>
            <a:r>
              <a:t>PICK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3776388"/>
            <a:ext cx="2194560" cy="9459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700"/>
              </a:spcAft>
              <a:defRPr sz="1500" b="0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One browser.</a:t>
            </a:r>
          </a:p>
          <a:p>
            <a:pPr algn="ctr">
              <a:spcAft>
                <a:spcPts val="700"/>
              </a:spcAft>
              <a:defRPr sz="1500" b="0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Two portals.</a:t>
            </a:r>
          </a:p>
          <a:p>
            <a:pPr algn="ctr">
              <a:spcAft>
                <a:spcPts val="700"/>
              </a:spcAft>
              <a:defRPr sz="1500" b="0">
                <a:solidFill>
                  <a:srgbClr val="F5F8FC"/>
                </a:solidFill>
                <a:latin typeface="Aptos"/>
              </a:defRPr>
            </a:pPr>
            <a:r>
              <a:rPr dirty="0">
                <a:solidFill>
                  <a:schemeClr val="bg2">
                    <a:lumMod val="10000"/>
                  </a:schemeClr>
                </a:solidFill>
              </a:rPr>
              <a:t>A clearer queue</a:t>
            </a:r>
            <a:r>
              <a:rPr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CB894F-9B8D-9AD4-E4AA-797A8836730F}"/>
              </a:ext>
            </a:extLst>
          </p:cNvPr>
          <p:cNvSpPr txBox="1"/>
          <p:nvPr/>
        </p:nvSpPr>
        <p:spPr>
          <a:xfrm>
            <a:off x="4326467" y="6239933"/>
            <a:ext cx="2133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Thank you</a:t>
            </a:r>
            <a:endParaRPr lang="en-IN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oji">
  <a:themeElements>
    <a:clrScheme name="Shoji">
      <a:dk1>
        <a:srgbClr val="131313"/>
      </a:dk1>
      <a:lt1>
        <a:sysClr val="window" lastClr="FFFFFF"/>
      </a:lt1>
      <a:dk2>
        <a:srgbClr val="1D3433"/>
      </a:dk2>
      <a:lt2>
        <a:srgbClr val="F3F2ED"/>
      </a:lt2>
      <a:accent1>
        <a:srgbClr val="7C5C3E"/>
      </a:accent1>
      <a:accent2>
        <a:srgbClr val="B8A189"/>
      </a:accent2>
      <a:accent3>
        <a:srgbClr val="A1A696"/>
      </a:accent3>
      <a:accent4>
        <a:srgbClr val="566868"/>
      </a:accent4>
      <a:accent5>
        <a:srgbClr val="786F50"/>
      </a:accent5>
      <a:accent6>
        <a:srgbClr val="A9A375"/>
      </a:accent6>
      <a:hlink>
        <a:srgbClr val="B1785F"/>
      </a:hlink>
      <a:folHlink>
        <a:srgbClr val="6C7F7F"/>
      </a:folHlink>
    </a:clrScheme>
    <a:fontScheme name="Custom 35">
      <a:majorFont>
        <a:latin typeface="Walbaum Display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hoji" id="{FC7F6458-703E-4B19-BAF9-E88A9B02521B}" vid="{6FBA4037-BA28-4926-BD89-6C54034403A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Shoji</Template>
  <TotalTime>196</TotalTime>
  <Words>1253</Words>
  <Application>Microsoft Office PowerPoint</Application>
  <PresentationFormat>Widescreen</PresentationFormat>
  <Paragraphs>203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 Light</vt:lpstr>
      <vt:lpstr>Arial</vt:lpstr>
      <vt:lpstr>Walbaum Display</vt:lpstr>
      <vt:lpstr>Shoji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StallScout — Professional Hackathon Presentation</dc:title>
  <dc:subject>Campus stall discovery, live inventory, digital queues, and smart routing</dc:subject>
  <dc:creator>StallScout Project Team</dc:creator>
  <cp:keywords>StallScout, hackathon, MQTT, campus canteen, real-time web app</cp:keywords>
  <dc:description>generated using python-pptx</dc:description>
  <cp:lastModifiedBy>VEDANT BOKARE</cp:lastModifiedBy>
  <cp:revision>9</cp:revision>
  <dcterms:created xsi:type="dcterms:W3CDTF">2013-01-27T09:14:16Z</dcterms:created>
  <dcterms:modified xsi:type="dcterms:W3CDTF">2026-10-24T21:45:19Z</dcterms:modified>
  <cp:category/>
</cp:coreProperties>
</file>